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Open Sans Bold" charset="1" panose="020B0806030504020204"/>
      <p:regular r:id="rId25"/>
    </p:embeddedFont>
    <p:embeddedFont>
      <p:font typeface="Glacial Indifference" charset="1" panose="00000000000000000000"/>
      <p:regular r:id="rId26"/>
    </p:embeddedFont>
    <p:embeddedFont>
      <p:font typeface="Open Sans" charset="1" panose="020B0606030504020204"/>
      <p:regular r:id="rId27"/>
    </p:embeddedFont>
    <p:embeddedFont>
      <p:font typeface="Poppins Bold" charset="1" panose="00000800000000000000"/>
      <p:regular r:id="rId28"/>
    </p:embeddedFont>
    <p:embeddedFont>
      <p:font typeface="Poppins" charset="1" panose="00000500000000000000"/>
      <p:regular r:id="rId29"/>
    </p:embeddedFont>
    <p:embeddedFont>
      <p:font typeface="Open Sauce" charset="1" panose="000005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Relationship Id="rId8" Target="../media/image3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jpeg" Type="http://schemas.openxmlformats.org/officeDocument/2006/relationships/image"/><Relationship Id="rId4" Target="../media/image37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8.png" Type="http://schemas.openxmlformats.org/officeDocument/2006/relationships/image"/><Relationship Id="rId4" Target="../media/image39.jpeg" Type="http://schemas.openxmlformats.org/officeDocument/2006/relationships/image"/><Relationship Id="rId5" Target="../media/image40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svg" Type="http://schemas.openxmlformats.org/officeDocument/2006/relationships/image"/><Relationship Id="rId4" Target="../media/image43.png" Type="http://schemas.openxmlformats.org/officeDocument/2006/relationships/image"/><Relationship Id="rId5" Target="../media/image44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Relationship Id="rId3" Target="../media/image46.svg" Type="http://schemas.openxmlformats.org/officeDocument/2006/relationships/image"/><Relationship Id="rId4" Target="../media/image47.png" Type="http://schemas.openxmlformats.org/officeDocument/2006/relationships/image"/><Relationship Id="rId5" Target="../media/image48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86176" y="2412488"/>
            <a:ext cx="4547739" cy="2450837"/>
          </a:xfrm>
          <a:custGeom>
            <a:avLst/>
            <a:gdLst/>
            <a:ahLst/>
            <a:cxnLst/>
            <a:rect r="r" b="b" t="t" l="l"/>
            <a:pathLst>
              <a:path h="2450837" w="4547739">
                <a:moveTo>
                  <a:pt x="0" y="0"/>
                </a:moveTo>
                <a:lnTo>
                  <a:pt x="4547739" y="0"/>
                </a:lnTo>
                <a:lnTo>
                  <a:pt x="4547739" y="2450838"/>
                </a:lnTo>
                <a:lnTo>
                  <a:pt x="0" y="24508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4213" y="589180"/>
            <a:ext cx="2930694" cy="1875508"/>
          </a:xfrm>
          <a:custGeom>
            <a:avLst/>
            <a:gdLst/>
            <a:ahLst/>
            <a:cxnLst/>
            <a:rect r="r" b="b" t="t" l="l"/>
            <a:pathLst>
              <a:path h="1875508" w="2930694">
                <a:moveTo>
                  <a:pt x="0" y="0"/>
                </a:moveTo>
                <a:lnTo>
                  <a:pt x="2930694" y="0"/>
                </a:lnTo>
                <a:lnTo>
                  <a:pt x="2930694" y="1875508"/>
                </a:lnTo>
                <a:lnTo>
                  <a:pt x="0" y="18755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3601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660544" y="871820"/>
            <a:ext cx="4091180" cy="8266138"/>
          </a:xfrm>
          <a:custGeom>
            <a:avLst/>
            <a:gdLst/>
            <a:ahLst/>
            <a:cxnLst/>
            <a:rect r="r" b="b" t="t" l="l"/>
            <a:pathLst>
              <a:path h="8266138" w="4091180">
                <a:moveTo>
                  <a:pt x="0" y="0"/>
                </a:moveTo>
                <a:lnTo>
                  <a:pt x="4091179" y="0"/>
                </a:lnTo>
                <a:lnTo>
                  <a:pt x="4091179" y="8266137"/>
                </a:lnTo>
                <a:lnTo>
                  <a:pt x="0" y="82661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29" t="-421" r="-1035" b="-76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92637" y="7386262"/>
            <a:ext cx="11301259" cy="1751695"/>
          </a:xfrm>
          <a:custGeom>
            <a:avLst/>
            <a:gdLst/>
            <a:ahLst/>
            <a:cxnLst/>
            <a:rect r="r" b="b" t="t" l="l"/>
            <a:pathLst>
              <a:path h="1751695" w="11301259">
                <a:moveTo>
                  <a:pt x="0" y="0"/>
                </a:moveTo>
                <a:lnTo>
                  <a:pt x="11301259" y="0"/>
                </a:lnTo>
                <a:lnTo>
                  <a:pt x="11301259" y="1751695"/>
                </a:lnTo>
                <a:lnTo>
                  <a:pt x="0" y="17516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444538" y="8521800"/>
            <a:ext cx="8448007" cy="525639"/>
            <a:chOff x="0" y="0"/>
            <a:chExt cx="2224989" cy="1384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24990" cy="138440"/>
            </a:xfrm>
            <a:custGeom>
              <a:avLst/>
              <a:gdLst/>
              <a:ahLst/>
              <a:cxnLst/>
              <a:rect r="r" b="b" t="t" l="l"/>
              <a:pathLst>
                <a:path h="138440" w="2224990">
                  <a:moveTo>
                    <a:pt x="0" y="0"/>
                  </a:moveTo>
                  <a:lnTo>
                    <a:pt x="2224990" y="0"/>
                  </a:lnTo>
                  <a:lnTo>
                    <a:pt x="2224990" y="138440"/>
                  </a:lnTo>
                  <a:lnTo>
                    <a:pt x="0" y="138440"/>
                  </a:lnTo>
                  <a:close/>
                </a:path>
              </a:pathLst>
            </a:custGeom>
            <a:solidFill>
              <a:srgbClr val="F5F6F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224989" cy="1860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827358" y="3314057"/>
            <a:ext cx="9058100" cy="21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00"/>
              </a:lnSpc>
            </a:pPr>
            <a:r>
              <a:rPr lang="en-US" sz="1242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Easy</a:t>
            </a:r>
            <a:r>
              <a:rPr lang="en-US" sz="12429" b="true">
                <a:solidFill>
                  <a:srgbClr val="366BA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Charge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534907" y="8584594"/>
            <a:ext cx="2551956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3"/>
              </a:lnSpc>
              <a:spcBef>
                <a:spcPct val="0"/>
              </a:spcBef>
            </a:pPr>
            <a:r>
              <a:rPr lang="en-US" sz="266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Bernardo Milheiro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444538" y="7518844"/>
            <a:ext cx="8448007" cy="912856"/>
            <a:chOff x="0" y="0"/>
            <a:chExt cx="2224989" cy="24042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24990" cy="240423"/>
            </a:xfrm>
            <a:custGeom>
              <a:avLst/>
              <a:gdLst/>
              <a:ahLst/>
              <a:cxnLst/>
              <a:rect r="r" b="b" t="t" l="l"/>
              <a:pathLst>
                <a:path h="240423" w="2224990">
                  <a:moveTo>
                    <a:pt x="0" y="0"/>
                  </a:moveTo>
                  <a:lnTo>
                    <a:pt x="2224990" y="0"/>
                  </a:lnTo>
                  <a:lnTo>
                    <a:pt x="2224990" y="240423"/>
                  </a:lnTo>
                  <a:lnTo>
                    <a:pt x="0" y="240423"/>
                  </a:lnTo>
                  <a:close/>
                </a:path>
              </a:pathLst>
            </a:custGeom>
            <a:solidFill>
              <a:srgbClr val="F6F7F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224989" cy="2880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534907" y="7544584"/>
            <a:ext cx="7971234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3"/>
              </a:lnSpc>
            </a:pPr>
            <a:r>
              <a:rPr lang="en-US" sz="266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Matheus Santana, Rodrigo Belchior, Rodrigo Fonseca e</a:t>
            </a:r>
          </a:p>
          <a:p>
            <a:pPr algn="l">
              <a:lnSpc>
                <a:spcPts val="3193"/>
              </a:lnSpc>
              <a:spcBef>
                <a:spcPct val="0"/>
              </a:spcBef>
            </a:pPr>
            <a:r>
              <a:rPr lang="en-US" sz="266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Rogério Pereira 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21212" y="7490269"/>
            <a:ext cx="1866985" cy="941431"/>
            <a:chOff x="0" y="0"/>
            <a:chExt cx="491716" cy="24794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91716" cy="247949"/>
            </a:xfrm>
            <a:custGeom>
              <a:avLst/>
              <a:gdLst/>
              <a:ahLst/>
              <a:cxnLst/>
              <a:rect r="r" b="b" t="t" l="l"/>
              <a:pathLst>
                <a:path h="247949" w="491716">
                  <a:moveTo>
                    <a:pt x="0" y="0"/>
                  </a:moveTo>
                  <a:lnTo>
                    <a:pt x="491716" y="0"/>
                  </a:lnTo>
                  <a:lnTo>
                    <a:pt x="491716" y="247949"/>
                  </a:lnTo>
                  <a:lnTo>
                    <a:pt x="0" y="247949"/>
                  </a:lnTo>
                  <a:close/>
                </a:path>
              </a:pathLst>
            </a:custGeom>
            <a:solidFill>
              <a:srgbClr val="F6F6E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491716" cy="295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730884" y="7775247"/>
            <a:ext cx="1102816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3"/>
              </a:lnSpc>
              <a:spcBef>
                <a:spcPct val="0"/>
              </a:spcBef>
            </a:pPr>
            <a:r>
              <a:rPr lang="en-US" sz="266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Autores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40262" y="8513929"/>
            <a:ext cx="1952496" cy="533510"/>
            <a:chOff x="0" y="0"/>
            <a:chExt cx="514238" cy="14051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14238" cy="140513"/>
            </a:xfrm>
            <a:custGeom>
              <a:avLst/>
              <a:gdLst/>
              <a:ahLst/>
              <a:cxnLst/>
              <a:rect r="r" b="b" t="t" l="l"/>
              <a:pathLst>
                <a:path h="140513" w="514238">
                  <a:moveTo>
                    <a:pt x="0" y="0"/>
                  </a:moveTo>
                  <a:lnTo>
                    <a:pt x="514238" y="0"/>
                  </a:lnTo>
                  <a:lnTo>
                    <a:pt x="514238" y="140513"/>
                  </a:lnTo>
                  <a:lnTo>
                    <a:pt x="0" y="140513"/>
                  </a:lnTo>
                  <a:close/>
                </a:path>
              </a:pathLst>
            </a:custGeom>
            <a:solidFill>
              <a:srgbClr val="F5F6F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514238" cy="1881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495438" y="8580659"/>
            <a:ext cx="1592759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3"/>
              </a:lnSpc>
              <a:spcBef>
                <a:spcPct val="0"/>
              </a:spcBef>
            </a:pPr>
            <a:r>
              <a:rPr lang="en-US" sz="266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Orientador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0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59263" y="377081"/>
            <a:ext cx="436947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Agenda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13976" y="1849147"/>
            <a:ext cx="988716" cy="933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60"/>
              </a:lnSpc>
            </a:pPr>
            <a:r>
              <a:rPr lang="en-US" b="true" sz="5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13976" y="4902622"/>
            <a:ext cx="1177885" cy="933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60"/>
              </a:lnSpc>
            </a:pPr>
            <a:r>
              <a:rPr lang="en-US" b="true" sz="5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06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13976" y="2790097"/>
            <a:ext cx="1177885" cy="933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60"/>
              </a:lnSpc>
            </a:pPr>
            <a:r>
              <a:rPr lang="en-US" b="true" sz="5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3976" y="5976922"/>
            <a:ext cx="1155815" cy="933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60"/>
              </a:lnSpc>
            </a:pPr>
            <a:r>
              <a:rPr lang="en-US" b="true" sz="5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07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13976" y="3840585"/>
            <a:ext cx="1155815" cy="933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60"/>
              </a:lnSpc>
            </a:pPr>
            <a:r>
              <a:rPr lang="en-US" b="true" sz="5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05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13976" y="7053241"/>
            <a:ext cx="1160608" cy="933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60"/>
              </a:lnSpc>
            </a:pPr>
            <a:r>
              <a:rPr lang="en-US" b="true" sz="5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08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09339" y="2051224"/>
            <a:ext cx="4618350" cy="581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Introdução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61126" y="2975862"/>
            <a:ext cx="5820553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Problemas e Objetivos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61126" y="4026349"/>
            <a:ext cx="6940788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Casos de Uso e Público-Alvo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813476" y="5712274"/>
            <a:ext cx="7555550" cy="523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33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nterface Monitorização e Controlo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60308" y="5165599"/>
            <a:ext cx="461835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Arquitetura Iot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60308" y="7184899"/>
            <a:ext cx="6708303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Ciclo de um Carregamento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91861" y="6140899"/>
            <a:ext cx="7787794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Diagrama de Funcionamento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13976" y="8101018"/>
            <a:ext cx="988716" cy="933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60"/>
              </a:lnSpc>
            </a:pPr>
            <a:r>
              <a:rPr lang="en-US" b="true" sz="5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09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91861" y="8296248"/>
            <a:ext cx="7473582" cy="581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Tecnologias Utilizadas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13976" y="9064625"/>
            <a:ext cx="988716" cy="933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60"/>
              </a:lnSpc>
            </a:pPr>
            <a:r>
              <a:rPr lang="en-US" b="true" sz="5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10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91861" y="9250389"/>
            <a:ext cx="7110053" cy="581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Implementação do Hardware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865405" y="2445472"/>
            <a:ext cx="1069756" cy="933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60"/>
              </a:lnSpc>
            </a:pPr>
            <a:r>
              <a:rPr lang="en-US" b="true" sz="5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813476" y="2594176"/>
            <a:ext cx="4618350" cy="581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Circuito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865405" y="3449647"/>
            <a:ext cx="867045" cy="933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60"/>
              </a:lnSpc>
            </a:pPr>
            <a:r>
              <a:rPr lang="en-US" b="true" sz="5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865405" y="5531272"/>
            <a:ext cx="867045" cy="933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60"/>
              </a:lnSpc>
            </a:pPr>
            <a:r>
              <a:rPr lang="en-US" b="true" sz="5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14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865405" y="6636172"/>
            <a:ext cx="867045" cy="933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60"/>
              </a:lnSpc>
            </a:pPr>
            <a:r>
              <a:rPr lang="en-US" b="true" sz="5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16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813476" y="3649672"/>
            <a:ext cx="7373169" cy="552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0"/>
              </a:lnSpc>
            </a:pPr>
            <a:r>
              <a:rPr lang="en-US" sz="34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Base de Dados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813476" y="6855261"/>
            <a:ext cx="7555550" cy="523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Limitações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865405" y="7737322"/>
            <a:ext cx="948071" cy="933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60"/>
              </a:lnSpc>
            </a:pPr>
            <a:r>
              <a:rPr lang="en-US" b="true" sz="5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17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813476" y="7958143"/>
            <a:ext cx="7555550" cy="523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Melhorias Futuros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865405" y="8820123"/>
            <a:ext cx="948071" cy="933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60"/>
              </a:lnSpc>
            </a:pPr>
            <a:r>
              <a:rPr lang="en-US" b="true" sz="5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18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813476" y="8965763"/>
            <a:ext cx="7555550" cy="523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Conclusão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865405" y="4426372"/>
            <a:ext cx="867045" cy="933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60"/>
              </a:lnSpc>
            </a:pPr>
            <a:r>
              <a:rPr lang="en-US" b="true" sz="5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13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813476" y="4593087"/>
            <a:ext cx="7373169" cy="552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0"/>
              </a:lnSpc>
            </a:pPr>
            <a:r>
              <a:rPr lang="en-US" sz="34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Funcionamento do Sistema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795098"/>
            <a:ext cx="9097115" cy="6218805"/>
            <a:chOff x="0" y="0"/>
            <a:chExt cx="2395948" cy="16378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95948" cy="1637875"/>
            </a:xfrm>
            <a:custGeom>
              <a:avLst/>
              <a:gdLst/>
              <a:ahLst/>
              <a:cxnLst/>
              <a:rect r="r" b="b" t="t" l="l"/>
              <a:pathLst>
                <a:path h="1637875" w="2395948">
                  <a:moveTo>
                    <a:pt x="43403" y="0"/>
                  </a:moveTo>
                  <a:lnTo>
                    <a:pt x="2352545" y="0"/>
                  </a:lnTo>
                  <a:cubicBezTo>
                    <a:pt x="2364056" y="0"/>
                    <a:pt x="2375096" y="4573"/>
                    <a:pt x="2383236" y="12712"/>
                  </a:cubicBezTo>
                  <a:cubicBezTo>
                    <a:pt x="2391375" y="20852"/>
                    <a:pt x="2395948" y="31891"/>
                    <a:pt x="2395948" y="43403"/>
                  </a:cubicBezTo>
                  <a:lnTo>
                    <a:pt x="2395948" y="1594472"/>
                  </a:lnTo>
                  <a:cubicBezTo>
                    <a:pt x="2395948" y="1618443"/>
                    <a:pt x="2376516" y="1637875"/>
                    <a:pt x="2352545" y="1637875"/>
                  </a:cubicBezTo>
                  <a:lnTo>
                    <a:pt x="43403" y="1637875"/>
                  </a:lnTo>
                  <a:cubicBezTo>
                    <a:pt x="19432" y="1637875"/>
                    <a:pt x="0" y="1618443"/>
                    <a:pt x="0" y="1594472"/>
                  </a:cubicBezTo>
                  <a:lnTo>
                    <a:pt x="0" y="43403"/>
                  </a:lnTo>
                  <a:cubicBezTo>
                    <a:pt x="0" y="19432"/>
                    <a:pt x="19432" y="0"/>
                    <a:pt x="43403" y="0"/>
                  </a:cubicBezTo>
                  <a:close/>
                </a:path>
              </a:pathLst>
            </a:custGeom>
            <a:solidFill>
              <a:srgbClr val="DFDE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95948" cy="1675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27857" y="3026968"/>
            <a:ext cx="9197958" cy="559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0444" indent="-320222" lvl="1">
              <a:lnSpc>
                <a:spcPts val="4449"/>
              </a:lnSpc>
              <a:buFont typeface="Arial"/>
              <a:buChar char="•"/>
            </a:pPr>
            <a:r>
              <a:rPr lang="en-US" sz="296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EasyCh</a:t>
            </a:r>
            <a:r>
              <a:rPr lang="en-US" sz="296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arge é um </a:t>
            </a:r>
            <a:r>
              <a:rPr lang="en-US" b="true" sz="2966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sistema de cacifos inteligentes</a:t>
            </a:r>
            <a:r>
              <a:rPr lang="en-US" sz="296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para armazenamento e carregamento de </a:t>
            </a:r>
            <a:r>
              <a:rPr lang="en-US" b="true" sz="2966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trotinetes elétricas</a:t>
            </a:r>
            <a:r>
              <a:rPr lang="en-US" sz="296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l" marL="640444" indent="-320222" lvl="1">
              <a:lnSpc>
                <a:spcPts val="4449"/>
              </a:lnSpc>
              <a:buFont typeface="Arial"/>
              <a:buChar char="•"/>
            </a:pPr>
            <a:r>
              <a:rPr lang="en-US" sz="296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Surge no contexto do aumento da </a:t>
            </a:r>
            <a:r>
              <a:rPr lang="en-US" b="true" sz="2966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utilização de meios de mobilidade elétrica urbana</a:t>
            </a:r>
            <a:r>
              <a:rPr lang="en-US" sz="296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l">
              <a:lnSpc>
                <a:spcPts val="4449"/>
              </a:lnSpc>
            </a:pPr>
          </a:p>
          <a:p>
            <a:pPr algn="l" marL="640444" indent="-320222" lvl="1">
              <a:lnSpc>
                <a:spcPts val="4449"/>
              </a:lnSpc>
              <a:buFont typeface="Arial"/>
              <a:buChar char="•"/>
            </a:pPr>
            <a:r>
              <a:rPr lang="en-US" sz="296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sistema integra hardware, software e comunicação entre dispositivos.</a:t>
            </a:r>
          </a:p>
          <a:p>
            <a:pPr algn="l" marL="640444" indent="-320222" lvl="1">
              <a:lnSpc>
                <a:spcPts val="4449"/>
              </a:lnSpc>
              <a:buFont typeface="Arial"/>
              <a:buChar char="•"/>
            </a:pPr>
            <a:r>
              <a:rPr lang="en-US" sz="296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objetivo é disponibilizar uma solução prática, segura e monitorizável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917568" y="857250"/>
            <a:ext cx="6452863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Introdução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641713" y="3112693"/>
            <a:ext cx="6875907" cy="5106073"/>
          </a:xfrm>
          <a:custGeom>
            <a:avLst/>
            <a:gdLst/>
            <a:ahLst/>
            <a:cxnLst/>
            <a:rect r="r" b="b" t="t" l="l"/>
            <a:pathLst>
              <a:path h="5106073" w="6875907">
                <a:moveTo>
                  <a:pt x="0" y="0"/>
                </a:moveTo>
                <a:lnTo>
                  <a:pt x="6875906" y="0"/>
                </a:lnTo>
                <a:lnTo>
                  <a:pt x="6875906" y="5106072"/>
                </a:lnTo>
                <a:lnTo>
                  <a:pt x="0" y="51060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0426" y="0"/>
            <a:ext cx="18441678" cy="10287000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924031" y="9888021"/>
            <a:ext cx="2363969" cy="398979"/>
            <a:chOff x="0" y="0"/>
            <a:chExt cx="622609" cy="10508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2609" cy="105081"/>
            </a:xfrm>
            <a:custGeom>
              <a:avLst/>
              <a:gdLst/>
              <a:ahLst/>
              <a:cxnLst/>
              <a:rect r="r" b="b" t="t" l="l"/>
              <a:pathLst>
                <a:path h="105081" w="622609">
                  <a:moveTo>
                    <a:pt x="0" y="0"/>
                  </a:moveTo>
                  <a:lnTo>
                    <a:pt x="622609" y="0"/>
                  </a:lnTo>
                  <a:lnTo>
                    <a:pt x="622609" y="105081"/>
                  </a:lnTo>
                  <a:lnTo>
                    <a:pt x="0" y="105081"/>
                  </a:lnTo>
                  <a:close/>
                </a:path>
              </a:pathLst>
            </a:custGeom>
            <a:solidFill>
              <a:srgbClr val="F7F8F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622609" cy="1431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436351" y="235891"/>
            <a:ext cx="2294369" cy="792809"/>
            <a:chOff x="0" y="0"/>
            <a:chExt cx="604278" cy="2088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04278" cy="208806"/>
            </a:xfrm>
            <a:custGeom>
              <a:avLst/>
              <a:gdLst/>
              <a:ahLst/>
              <a:cxnLst/>
              <a:rect r="r" b="b" t="t" l="l"/>
              <a:pathLst>
                <a:path h="208806" w="604278">
                  <a:moveTo>
                    <a:pt x="0" y="0"/>
                  </a:moveTo>
                  <a:lnTo>
                    <a:pt x="604278" y="0"/>
                  </a:lnTo>
                  <a:lnTo>
                    <a:pt x="604278" y="208806"/>
                  </a:lnTo>
                  <a:lnTo>
                    <a:pt x="0" y="208806"/>
                  </a:lnTo>
                  <a:close/>
                </a:path>
              </a:pathLst>
            </a:custGeom>
            <a:solidFill>
              <a:srgbClr val="E5E5E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04278" cy="2469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395800" y="235891"/>
            <a:ext cx="5324788" cy="1028700"/>
            <a:chOff x="0" y="0"/>
            <a:chExt cx="1402413" cy="27093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02413" cy="270933"/>
            </a:xfrm>
            <a:custGeom>
              <a:avLst/>
              <a:gdLst/>
              <a:ahLst/>
              <a:cxnLst/>
              <a:rect r="r" b="b" t="t" l="l"/>
              <a:pathLst>
                <a:path h="270933" w="1402413">
                  <a:moveTo>
                    <a:pt x="0" y="0"/>
                  </a:moveTo>
                  <a:lnTo>
                    <a:pt x="1402413" y="0"/>
                  </a:lnTo>
                  <a:lnTo>
                    <a:pt x="140241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6F6F1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40241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92406" y="2685779"/>
            <a:ext cx="7709992" cy="6339392"/>
            <a:chOff x="0" y="0"/>
            <a:chExt cx="2030615" cy="166963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30615" cy="1669634"/>
            </a:xfrm>
            <a:custGeom>
              <a:avLst/>
              <a:gdLst/>
              <a:ahLst/>
              <a:cxnLst/>
              <a:rect r="r" b="b" t="t" l="l"/>
              <a:pathLst>
                <a:path h="1669634" w="2030615">
                  <a:moveTo>
                    <a:pt x="0" y="0"/>
                  </a:moveTo>
                  <a:lnTo>
                    <a:pt x="2030615" y="0"/>
                  </a:lnTo>
                  <a:lnTo>
                    <a:pt x="2030615" y="1669634"/>
                  </a:lnTo>
                  <a:lnTo>
                    <a:pt x="0" y="1669634"/>
                  </a:lnTo>
                  <a:close/>
                </a:path>
              </a:pathLst>
            </a:custGeom>
            <a:solidFill>
              <a:srgbClr val="E8E7E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030615" cy="1717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179213" y="2551035"/>
            <a:ext cx="7152715" cy="6007686"/>
            <a:chOff x="0" y="0"/>
            <a:chExt cx="1883843" cy="1582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83843" cy="1582271"/>
            </a:xfrm>
            <a:custGeom>
              <a:avLst/>
              <a:gdLst/>
              <a:ahLst/>
              <a:cxnLst/>
              <a:rect r="r" b="b" t="t" l="l"/>
              <a:pathLst>
                <a:path h="1582271" w="1883843">
                  <a:moveTo>
                    <a:pt x="0" y="0"/>
                  </a:moveTo>
                  <a:lnTo>
                    <a:pt x="1883843" y="0"/>
                  </a:lnTo>
                  <a:lnTo>
                    <a:pt x="1883843" y="1582271"/>
                  </a:lnTo>
                  <a:lnTo>
                    <a:pt x="0" y="1582271"/>
                  </a:lnTo>
                  <a:close/>
                </a:path>
              </a:pathLst>
            </a:custGeom>
            <a:solidFill>
              <a:srgbClr val="F6F7F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883843" cy="1629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235403" y="3093168"/>
            <a:ext cx="2050332" cy="2050332"/>
          </a:xfrm>
          <a:custGeom>
            <a:avLst/>
            <a:gdLst/>
            <a:ahLst/>
            <a:cxnLst/>
            <a:rect r="r" b="b" t="t" l="l"/>
            <a:pathLst>
              <a:path h="2050332" w="2050332">
                <a:moveTo>
                  <a:pt x="0" y="0"/>
                </a:moveTo>
                <a:lnTo>
                  <a:pt x="2050332" y="0"/>
                </a:lnTo>
                <a:lnTo>
                  <a:pt x="2050332" y="2050332"/>
                </a:lnTo>
                <a:lnTo>
                  <a:pt x="0" y="20503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lgDash"/>
            <a:miter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1237621" y="6773551"/>
            <a:ext cx="2048114" cy="908618"/>
          </a:xfrm>
          <a:custGeom>
            <a:avLst/>
            <a:gdLst/>
            <a:ahLst/>
            <a:cxnLst/>
            <a:rect r="r" b="b" t="t" l="l"/>
            <a:pathLst>
              <a:path h="908618" w="2048114">
                <a:moveTo>
                  <a:pt x="0" y="0"/>
                </a:moveTo>
                <a:lnTo>
                  <a:pt x="2048114" y="0"/>
                </a:lnTo>
                <a:lnTo>
                  <a:pt x="2048114" y="908617"/>
                </a:lnTo>
                <a:lnTo>
                  <a:pt x="0" y="9086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179213" y="3093168"/>
            <a:ext cx="2050332" cy="2050332"/>
          </a:xfrm>
          <a:custGeom>
            <a:avLst/>
            <a:gdLst/>
            <a:ahLst/>
            <a:cxnLst/>
            <a:rect r="r" b="b" t="t" l="l"/>
            <a:pathLst>
              <a:path h="2050332" w="2050332">
                <a:moveTo>
                  <a:pt x="0" y="0"/>
                </a:moveTo>
                <a:lnTo>
                  <a:pt x="2050332" y="0"/>
                </a:lnTo>
                <a:lnTo>
                  <a:pt x="2050332" y="2050332"/>
                </a:lnTo>
                <a:lnTo>
                  <a:pt x="0" y="2050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779978" y="5709918"/>
            <a:ext cx="2848803" cy="2848803"/>
          </a:xfrm>
          <a:custGeom>
            <a:avLst/>
            <a:gdLst/>
            <a:ahLst/>
            <a:cxnLst/>
            <a:rect r="r" b="b" t="t" l="l"/>
            <a:pathLst>
              <a:path h="2848803" w="2848803">
                <a:moveTo>
                  <a:pt x="0" y="0"/>
                </a:moveTo>
                <a:lnTo>
                  <a:pt x="2848803" y="0"/>
                </a:lnTo>
                <a:lnTo>
                  <a:pt x="2848803" y="2848803"/>
                </a:lnTo>
                <a:lnTo>
                  <a:pt x="0" y="28488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852378" y="6972300"/>
            <a:ext cx="704004" cy="412802"/>
          </a:xfrm>
          <a:custGeom>
            <a:avLst/>
            <a:gdLst/>
            <a:ahLst/>
            <a:cxnLst/>
            <a:rect r="r" b="b" t="t" l="l"/>
            <a:pathLst>
              <a:path h="412802" w="704004">
                <a:moveTo>
                  <a:pt x="0" y="0"/>
                </a:moveTo>
                <a:lnTo>
                  <a:pt x="704003" y="0"/>
                </a:lnTo>
                <a:lnTo>
                  <a:pt x="704003" y="412802"/>
                </a:lnTo>
                <a:lnTo>
                  <a:pt x="0" y="412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2613731" y="857250"/>
            <a:ext cx="13053364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Problemas e Objetivos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532878" y="3439123"/>
            <a:ext cx="5483793" cy="1452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0"/>
              </a:lnSpc>
            </a:pPr>
            <a:r>
              <a:rPr lang="en-US" sz="262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Vulnerabilidade ao furto e atos do vandalismo em locais improvisados.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532878" y="6468276"/>
            <a:ext cx="5290738" cy="1452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0"/>
              </a:lnSpc>
            </a:pPr>
            <a:r>
              <a:rPr lang="en-US" sz="262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Incapacidade de monitorizar o nível de carga e falta de acesso organizado à energia.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501369" y="3439123"/>
            <a:ext cx="5483793" cy="957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0"/>
              </a:lnSpc>
            </a:pPr>
            <a:r>
              <a:rPr lang="en-US" sz="262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Segurança física garantida com cacifos de controlo eletrónico.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501369" y="6468276"/>
            <a:ext cx="5483793" cy="1452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0"/>
              </a:lnSpc>
            </a:pPr>
            <a:r>
              <a:rPr lang="en-US" sz="262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Carregamento integrado e gestão remota em tempo real do estado da frota.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5202" y="3365604"/>
            <a:ext cx="7344913" cy="4388124"/>
            <a:chOff x="0" y="0"/>
            <a:chExt cx="1934463" cy="1155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34463" cy="1155720"/>
            </a:xfrm>
            <a:custGeom>
              <a:avLst/>
              <a:gdLst/>
              <a:ahLst/>
              <a:cxnLst/>
              <a:rect r="r" b="b" t="t" l="l"/>
              <a:pathLst>
                <a:path h="1155720" w="1934463">
                  <a:moveTo>
                    <a:pt x="53757" y="0"/>
                  </a:moveTo>
                  <a:lnTo>
                    <a:pt x="1880706" y="0"/>
                  </a:lnTo>
                  <a:cubicBezTo>
                    <a:pt x="1910395" y="0"/>
                    <a:pt x="1934463" y="24068"/>
                    <a:pt x="1934463" y="53757"/>
                  </a:cubicBezTo>
                  <a:lnTo>
                    <a:pt x="1934463" y="1101963"/>
                  </a:lnTo>
                  <a:cubicBezTo>
                    <a:pt x="1934463" y="1116220"/>
                    <a:pt x="1928799" y="1129894"/>
                    <a:pt x="1918718" y="1139975"/>
                  </a:cubicBezTo>
                  <a:cubicBezTo>
                    <a:pt x="1908636" y="1150056"/>
                    <a:pt x="1894963" y="1155720"/>
                    <a:pt x="1880706" y="1155720"/>
                  </a:cubicBezTo>
                  <a:lnTo>
                    <a:pt x="53757" y="1155720"/>
                  </a:lnTo>
                  <a:cubicBezTo>
                    <a:pt x="39499" y="1155720"/>
                    <a:pt x="25826" y="1150056"/>
                    <a:pt x="15745" y="1139975"/>
                  </a:cubicBezTo>
                  <a:cubicBezTo>
                    <a:pt x="5664" y="1129894"/>
                    <a:pt x="0" y="1116220"/>
                    <a:pt x="0" y="1101963"/>
                  </a:cubicBezTo>
                  <a:lnTo>
                    <a:pt x="0" y="53757"/>
                  </a:lnTo>
                  <a:cubicBezTo>
                    <a:pt x="0" y="39499"/>
                    <a:pt x="5664" y="25826"/>
                    <a:pt x="15745" y="15745"/>
                  </a:cubicBezTo>
                  <a:cubicBezTo>
                    <a:pt x="25826" y="5664"/>
                    <a:pt x="39499" y="0"/>
                    <a:pt x="53757" y="0"/>
                  </a:cubicBezTo>
                  <a:close/>
                </a:path>
              </a:pathLst>
            </a:custGeom>
            <a:solidFill>
              <a:srgbClr val="B8B8B8">
                <a:alpha val="2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934463" cy="11747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66455" y="3230646"/>
            <a:ext cx="7344913" cy="4097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0"/>
              </a:lnSpc>
            </a:pPr>
          </a:p>
          <a:p>
            <a:pPr algn="just" marL="582933" indent="-291467" lvl="1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Autenticar utilizador;</a:t>
            </a:r>
          </a:p>
          <a:p>
            <a:pPr algn="just" marL="582933" indent="-291467" lvl="1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Consultar estado dos cacifos;</a:t>
            </a:r>
          </a:p>
          <a:p>
            <a:pPr algn="just" marL="582933" indent="-291467" lvl="1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Abrir cacifo;</a:t>
            </a:r>
          </a:p>
          <a:p>
            <a:pPr algn="just" marL="582933" indent="-291467" lvl="1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Iniciar carregamento;</a:t>
            </a:r>
          </a:p>
          <a:p>
            <a:pPr algn="just" marL="582933" indent="-291467" lvl="1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Terminar carregamento;</a:t>
            </a:r>
          </a:p>
          <a:p>
            <a:pPr algn="just" marL="582933" indent="-291467" lvl="1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Registar eventos;</a:t>
            </a:r>
          </a:p>
          <a:p>
            <a:pPr algn="just" marL="582933" indent="-291467" lvl="1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Monitorização remota.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831533" y="3365604"/>
            <a:ext cx="6118968" cy="2359739"/>
            <a:chOff x="0" y="0"/>
            <a:chExt cx="1611580" cy="6214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11580" cy="621495"/>
            </a:xfrm>
            <a:custGeom>
              <a:avLst/>
              <a:gdLst/>
              <a:ahLst/>
              <a:cxnLst/>
              <a:rect r="r" b="b" t="t" l="l"/>
              <a:pathLst>
                <a:path h="621495" w="1611580">
                  <a:moveTo>
                    <a:pt x="64527" y="0"/>
                  </a:moveTo>
                  <a:lnTo>
                    <a:pt x="1547053" y="0"/>
                  </a:lnTo>
                  <a:cubicBezTo>
                    <a:pt x="1564167" y="0"/>
                    <a:pt x="1580579" y="6798"/>
                    <a:pt x="1592680" y="18899"/>
                  </a:cubicBezTo>
                  <a:cubicBezTo>
                    <a:pt x="1604782" y="31001"/>
                    <a:pt x="1611580" y="47413"/>
                    <a:pt x="1611580" y="64527"/>
                  </a:cubicBezTo>
                  <a:lnTo>
                    <a:pt x="1611580" y="556968"/>
                  </a:lnTo>
                  <a:cubicBezTo>
                    <a:pt x="1611580" y="574082"/>
                    <a:pt x="1604782" y="590494"/>
                    <a:pt x="1592680" y="602595"/>
                  </a:cubicBezTo>
                  <a:cubicBezTo>
                    <a:pt x="1580579" y="614697"/>
                    <a:pt x="1564167" y="621495"/>
                    <a:pt x="1547053" y="621495"/>
                  </a:cubicBezTo>
                  <a:lnTo>
                    <a:pt x="64527" y="621495"/>
                  </a:lnTo>
                  <a:cubicBezTo>
                    <a:pt x="47413" y="621495"/>
                    <a:pt x="31001" y="614697"/>
                    <a:pt x="18899" y="602595"/>
                  </a:cubicBezTo>
                  <a:cubicBezTo>
                    <a:pt x="6798" y="590494"/>
                    <a:pt x="0" y="574082"/>
                    <a:pt x="0" y="556968"/>
                  </a:cubicBezTo>
                  <a:lnTo>
                    <a:pt x="0" y="64527"/>
                  </a:lnTo>
                  <a:cubicBezTo>
                    <a:pt x="0" y="47413"/>
                    <a:pt x="6798" y="31001"/>
                    <a:pt x="18899" y="18899"/>
                  </a:cubicBezTo>
                  <a:cubicBezTo>
                    <a:pt x="31001" y="6798"/>
                    <a:pt x="47413" y="0"/>
                    <a:pt x="64527" y="0"/>
                  </a:cubicBezTo>
                  <a:close/>
                </a:path>
              </a:pathLst>
            </a:custGeom>
            <a:solidFill>
              <a:srgbClr val="B8B8B8">
                <a:alpha val="29804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611580" cy="6405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831533" y="6058717"/>
            <a:ext cx="6118968" cy="3199583"/>
            <a:chOff x="0" y="0"/>
            <a:chExt cx="1611580" cy="8426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11580" cy="842688"/>
            </a:xfrm>
            <a:custGeom>
              <a:avLst/>
              <a:gdLst/>
              <a:ahLst/>
              <a:cxnLst/>
              <a:rect r="r" b="b" t="t" l="l"/>
              <a:pathLst>
                <a:path h="842688" w="1611580">
                  <a:moveTo>
                    <a:pt x="64527" y="0"/>
                  </a:moveTo>
                  <a:lnTo>
                    <a:pt x="1547053" y="0"/>
                  </a:lnTo>
                  <a:cubicBezTo>
                    <a:pt x="1564167" y="0"/>
                    <a:pt x="1580579" y="6798"/>
                    <a:pt x="1592680" y="18899"/>
                  </a:cubicBezTo>
                  <a:cubicBezTo>
                    <a:pt x="1604782" y="31001"/>
                    <a:pt x="1611580" y="47413"/>
                    <a:pt x="1611580" y="64527"/>
                  </a:cubicBezTo>
                  <a:lnTo>
                    <a:pt x="1611580" y="778162"/>
                  </a:lnTo>
                  <a:cubicBezTo>
                    <a:pt x="1611580" y="813799"/>
                    <a:pt x="1582690" y="842688"/>
                    <a:pt x="1547053" y="842688"/>
                  </a:cubicBezTo>
                  <a:lnTo>
                    <a:pt x="64527" y="842688"/>
                  </a:lnTo>
                  <a:cubicBezTo>
                    <a:pt x="47413" y="842688"/>
                    <a:pt x="31001" y="835890"/>
                    <a:pt x="18899" y="823789"/>
                  </a:cubicBezTo>
                  <a:cubicBezTo>
                    <a:pt x="6798" y="811688"/>
                    <a:pt x="0" y="795275"/>
                    <a:pt x="0" y="778162"/>
                  </a:cubicBezTo>
                  <a:lnTo>
                    <a:pt x="0" y="64527"/>
                  </a:lnTo>
                  <a:cubicBezTo>
                    <a:pt x="0" y="47413"/>
                    <a:pt x="6798" y="31001"/>
                    <a:pt x="18899" y="18899"/>
                  </a:cubicBezTo>
                  <a:cubicBezTo>
                    <a:pt x="31001" y="6798"/>
                    <a:pt x="47413" y="0"/>
                    <a:pt x="64527" y="0"/>
                  </a:cubicBezTo>
                  <a:close/>
                </a:path>
              </a:pathLst>
            </a:custGeom>
            <a:solidFill>
              <a:srgbClr val="B8B8B8">
                <a:alpha val="29804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611580" cy="8617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5331322" y="2423794"/>
            <a:ext cx="991751" cy="892576"/>
          </a:xfrm>
          <a:custGeom>
            <a:avLst/>
            <a:gdLst/>
            <a:ahLst/>
            <a:cxnLst/>
            <a:rect r="r" b="b" t="t" l="l"/>
            <a:pathLst>
              <a:path h="892576" w="991751">
                <a:moveTo>
                  <a:pt x="0" y="0"/>
                </a:moveTo>
                <a:lnTo>
                  <a:pt x="991752" y="0"/>
                </a:lnTo>
                <a:lnTo>
                  <a:pt x="991752" y="892577"/>
                </a:lnTo>
                <a:lnTo>
                  <a:pt x="0" y="8925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514981" y="3365604"/>
            <a:ext cx="1375134" cy="1424339"/>
          </a:xfrm>
          <a:custGeom>
            <a:avLst/>
            <a:gdLst/>
            <a:ahLst/>
            <a:cxnLst/>
            <a:rect r="r" b="b" t="t" l="l"/>
            <a:pathLst>
              <a:path h="1424339" w="1375134">
                <a:moveTo>
                  <a:pt x="0" y="0"/>
                </a:moveTo>
                <a:lnTo>
                  <a:pt x="1375134" y="0"/>
                </a:lnTo>
                <a:lnTo>
                  <a:pt x="1375134" y="1424338"/>
                </a:lnTo>
                <a:lnTo>
                  <a:pt x="0" y="14243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639897" y="6192747"/>
            <a:ext cx="893636" cy="658041"/>
          </a:xfrm>
          <a:custGeom>
            <a:avLst/>
            <a:gdLst/>
            <a:ahLst/>
            <a:cxnLst/>
            <a:rect r="r" b="b" t="t" l="l"/>
            <a:pathLst>
              <a:path h="658041" w="893636">
                <a:moveTo>
                  <a:pt x="0" y="0"/>
                </a:moveTo>
                <a:lnTo>
                  <a:pt x="893636" y="0"/>
                </a:lnTo>
                <a:lnTo>
                  <a:pt x="893636" y="658041"/>
                </a:lnTo>
                <a:lnTo>
                  <a:pt x="0" y="6580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61667" y="742950"/>
            <a:ext cx="1636466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Casos de Uso e Público- Alvo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22250" y="2736954"/>
            <a:ext cx="803332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b="true" sz="3200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P</a:t>
            </a:r>
            <a:r>
              <a:rPr lang="en-US" b="true" sz="3200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rincipais funcionalidades do sistema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450711" y="2736954"/>
            <a:ext cx="288061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b="true" sz="3200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Público-Alvo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366625" y="3589798"/>
            <a:ext cx="5451502" cy="189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b="true" sz="2499">
                <a:solidFill>
                  <a:srgbClr val="19191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 quem se destina o EasyCharge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499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studantes universitários;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Funcionários e professores;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Utilizadores urbanos de trotinetes elétricas.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193204" y="6218981"/>
            <a:ext cx="606309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B</a:t>
            </a:r>
            <a:r>
              <a:rPr lang="en-US" b="true" sz="249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en</a:t>
            </a:r>
            <a:r>
              <a:rPr lang="en-US" b="true" sz="2499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efícios: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019783" y="6812688"/>
            <a:ext cx="5871091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egurança;</a:t>
            </a: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Carregamento durante atividades;</a:t>
            </a: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Controlo através de smartphone;</a:t>
            </a: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Monitorização do estado da trotinete.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B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3678" y="0"/>
            <a:ext cx="18441678" cy="10287000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739183" y="9906526"/>
            <a:ext cx="1548817" cy="380474"/>
            <a:chOff x="0" y="0"/>
            <a:chExt cx="407919" cy="10020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7919" cy="100207"/>
            </a:xfrm>
            <a:custGeom>
              <a:avLst/>
              <a:gdLst/>
              <a:ahLst/>
              <a:cxnLst/>
              <a:rect r="r" b="b" t="t" l="l"/>
              <a:pathLst>
                <a:path h="100207" w="407919">
                  <a:moveTo>
                    <a:pt x="0" y="0"/>
                  </a:moveTo>
                  <a:lnTo>
                    <a:pt x="407919" y="0"/>
                  </a:lnTo>
                  <a:lnTo>
                    <a:pt x="407919" y="100207"/>
                  </a:lnTo>
                  <a:lnTo>
                    <a:pt x="0" y="100207"/>
                  </a:lnTo>
                  <a:close/>
                </a:path>
              </a:pathLst>
            </a:custGeom>
            <a:solidFill>
              <a:srgbClr val="F4F3E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07919" cy="138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64582" y="281947"/>
            <a:ext cx="6955543" cy="1493507"/>
            <a:chOff x="0" y="0"/>
            <a:chExt cx="1831913" cy="3933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31913" cy="393352"/>
            </a:xfrm>
            <a:custGeom>
              <a:avLst/>
              <a:gdLst/>
              <a:ahLst/>
              <a:cxnLst/>
              <a:rect r="r" b="b" t="t" l="l"/>
              <a:pathLst>
                <a:path h="393352" w="1831913">
                  <a:moveTo>
                    <a:pt x="0" y="0"/>
                  </a:moveTo>
                  <a:lnTo>
                    <a:pt x="1831913" y="0"/>
                  </a:lnTo>
                  <a:lnTo>
                    <a:pt x="1831913" y="393352"/>
                  </a:lnTo>
                  <a:lnTo>
                    <a:pt x="0" y="393352"/>
                  </a:lnTo>
                  <a:close/>
                </a:path>
              </a:pathLst>
            </a:custGeom>
            <a:solidFill>
              <a:srgbClr val="F4F5E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831913" cy="4409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1466" y="3978705"/>
            <a:ext cx="4986152" cy="1072505"/>
            <a:chOff x="0" y="0"/>
            <a:chExt cx="1313225" cy="28247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13225" cy="282471"/>
            </a:xfrm>
            <a:custGeom>
              <a:avLst/>
              <a:gdLst/>
              <a:ahLst/>
              <a:cxnLst/>
              <a:rect r="r" b="b" t="t" l="l"/>
              <a:pathLst>
                <a:path h="282471" w="1313225">
                  <a:moveTo>
                    <a:pt x="0" y="0"/>
                  </a:moveTo>
                  <a:lnTo>
                    <a:pt x="1313225" y="0"/>
                  </a:lnTo>
                  <a:lnTo>
                    <a:pt x="1313225" y="282471"/>
                  </a:lnTo>
                  <a:lnTo>
                    <a:pt x="0" y="282471"/>
                  </a:lnTo>
                  <a:close/>
                </a:path>
              </a:pathLst>
            </a:custGeom>
            <a:solidFill>
              <a:srgbClr val="F7F6F1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313225" cy="3205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273148" y="2151394"/>
            <a:ext cx="4986152" cy="1072505"/>
            <a:chOff x="0" y="0"/>
            <a:chExt cx="1313225" cy="28247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13225" cy="282471"/>
            </a:xfrm>
            <a:custGeom>
              <a:avLst/>
              <a:gdLst/>
              <a:ahLst/>
              <a:cxnLst/>
              <a:rect r="r" b="b" t="t" l="l"/>
              <a:pathLst>
                <a:path h="282471" w="1313225">
                  <a:moveTo>
                    <a:pt x="0" y="0"/>
                  </a:moveTo>
                  <a:lnTo>
                    <a:pt x="1313225" y="0"/>
                  </a:lnTo>
                  <a:lnTo>
                    <a:pt x="1313225" y="282471"/>
                  </a:lnTo>
                  <a:lnTo>
                    <a:pt x="0" y="282471"/>
                  </a:lnTo>
                  <a:close/>
                </a:path>
              </a:pathLst>
            </a:custGeom>
            <a:solidFill>
              <a:srgbClr val="F7F6F1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313225" cy="3205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273148" y="5747908"/>
            <a:ext cx="5549646" cy="1072505"/>
            <a:chOff x="0" y="0"/>
            <a:chExt cx="1461635" cy="28247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1635" cy="282471"/>
            </a:xfrm>
            <a:custGeom>
              <a:avLst/>
              <a:gdLst/>
              <a:ahLst/>
              <a:cxnLst/>
              <a:rect r="r" b="b" t="t" l="l"/>
              <a:pathLst>
                <a:path h="282471" w="1461635">
                  <a:moveTo>
                    <a:pt x="0" y="0"/>
                  </a:moveTo>
                  <a:lnTo>
                    <a:pt x="1461635" y="0"/>
                  </a:lnTo>
                  <a:lnTo>
                    <a:pt x="1461635" y="282471"/>
                  </a:lnTo>
                  <a:lnTo>
                    <a:pt x="0" y="282471"/>
                  </a:lnTo>
                  <a:close/>
                </a:path>
              </a:pathLst>
            </a:custGeom>
            <a:solidFill>
              <a:srgbClr val="F7F6F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461635" cy="3205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360620" y="7587559"/>
            <a:ext cx="5462174" cy="1161570"/>
            <a:chOff x="0" y="0"/>
            <a:chExt cx="1438597" cy="30592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38597" cy="305928"/>
            </a:xfrm>
            <a:custGeom>
              <a:avLst/>
              <a:gdLst/>
              <a:ahLst/>
              <a:cxnLst/>
              <a:rect r="r" b="b" t="t" l="l"/>
              <a:pathLst>
                <a:path h="305928" w="1438597">
                  <a:moveTo>
                    <a:pt x="0" y="0"/>
                  </a:moveTo>
                  <a:lnTo>
                    <a:pt x="1438597" y="0"/>
                  </a:lnTo>
                  <a:lnTo>
                    <a:pt x="1438597" y="305928"/>
                  </a:lnTo>
                  <a:lnTo>
                    <a:pt x="0" y="305928"/>
                  </a:lnTo>
                  <a:close/>
                </a:path>
              </a:pathLst>
            </a:custGeom>
            <a:solidFill>
              <a:srgbClr val="F1F0E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438597" cy="3440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2215998" y="7453962"/>
            <a:ext cx="5785129" cy="1285643"/>
          </a:xfrm>
          <a:custGeom>
            <a:avLst/>
            <a:gdLst/>
            <a:ahLst/>
            <a:cxnLst/>
            <a:rect r="r" b="b" t="t" l="l"/>
            <a:pathLst>
              <a:path h="1285643" w="5785129">
                <a:moveTo>
                  <a:pt x="0" y="0"/>
                </a:moveTo>
                <a:lnTo>
                  <a:pt x="5785129" y="0"/>
                </a:lnTo>
                <a:lnTo>
                  <a:pt x="5785129" y="1285642"/>
                </a:lnTo>
                <a:lnTo>
                  <a:pt x="0" y="12856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1053" t="0" r="-15877" b="-826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62015" y="431382"/>
            <a:ext cx="6108830" cy="1070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42"/>
              </a:lnSpc>
            </a:pPr>
            <a:r>
              <a:rPr lang="en-US" sz="6244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Arquitetura IoT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-10800000">
            <a:off x="564582" y="3831810"/>
            <a:ext cx="5550335" cy="1478617"/>
          </a:xfrm>
          <a:custGeom>
            <a:avLst/>
            <a:gdLst/>
            <a:ahLst/>
            <a:cxnLst/>
            <a:rect r="r" b="b" t="t" l="l"/>
            <a:pathLst>
              <a:path h="1478617" w="5550335">
                <a:moveTo>
                  <a:pt x="0" y="0"/>
                </a:moveTo>
                <a:lnTo>
                  <a:pt x="5550334" y="0"/>
                </a:lnTo>
                <a:lnTo>
                  <a:pt x="5550334" y="1478616"/>
                </a:lnTo>
                <a:lnTo>
                  <a:pt x="0" y="1478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8779" t="0" r="-2591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762015" y="4503421"/>
            <a:ext cx="5135602" cy="640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Transporte de informação através de portas série virtuais, garantindo baixa latência.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312920" y="3921555"/>
            <a:ext cx="2584698" cy="448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 Comunicação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2215998" y="1998149"/>
            <a:ext cx="5785129" cy="1285643"/>
          </a:xfrm>
          <a:custGeom>
            <a:avLst/>
            <a:gdLst/>
            <a:ahLst/>
            <a:cxnLst/>
            <a:rect r="r" b="b" t="t" l="l"/>
            <a:pathLst>
              <a:path h="1285643" w="5785129">
                <a:moveTo>
                  <a:pt x="0" y="0"/>
                </a:moveTo>
                <a:lnTo>
                  <a:pt x="5785129" y="0"/>
                </a:lnTo>
                <a:lnTo>
                  <a:pt x="5785129" y="1285643"/>
                </a:lnTo>
                <a:lnTo>
                  <a:pt x="0" y="12856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1053" t="0" r="-15877" b="-826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2377989" y="2583821"/>
            <a:ext cx="5135602" cy="640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Software de gestão e App Android para interação com o utilizador.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345776" y="2077404"/>
            <a:ext cx="1949351" cy="448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1. Aplicação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2191721" y="5641339"/>
            <a:ext cx="5785129" cy="1285643"/>
          </a:xfrm>
          <a:custGeom>
            <a:avLst/>
            <a:gdLst/>
            <a:ahLst/>
            <a:cxnLst/>
            <a:rect r="r" b="b" t="t" l="l"/>
            <a:pathLst>
              <a:path h="1285643" w="5785129">
                <a:moveTo>
                  <a:pt x="0" y="0"/>
                </a:moveTo>
                <a:lnTo>
                  <a:pt x="5785128" y="0"/>
                </a:lnTo>
                <a:lnTo>
                  <a:pt x="5785128" y="1285642"/>
                </a:lnTo>
                <a:lnTo>
                  <a:pt x="0" y="12856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1053" t="0" r="-15877" b="-826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2345776" y="6177166"/>
            <a:ext cx="5477018" cy="640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Adaptação e tradução de comunicações entre a rede e a interface física de sinais lógicos.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345776" y="5690758"/>
            <a:ext cx="1814959" cy="448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3. Gateway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360620" y="7978718"/>
            <a:ext cx="5462174" cy="640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Simulação de hardware, controlo de atuadores e leitura do estado físico dos cacifos.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377989" y="7530409"/>
            <a:ext cx="3990529" cy="448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4. Perceção / Dispositivo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02934" y="277959"/>
            <a:ext cx="10485066" cy="9731082"/>
          </a:xfrm>
          <a:custGeom>
            <a:avLst/>
            <a:gdLst/>
            <a:ahLst/>
            <a:cxnLst/>
            <a:rect r="r" b="b" t="t" l="l"/>
            <a:pathLst>
              <a:path h="9731082" w="10485066">
                <a:moveTo>
                  <a:pt x="0" y="0"/>
                </a:moveTo>
                <a:lnTo>
                  <a:pt x="10485066" y="0"/>
                </a:lnTo>
                <a:lnTo>
                  <a:pt x="10485066" y="9731082"/>
                </a:lnTo>
                <a:lnTo>
                  <a:pt x="0" y="97310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52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1669" y="2890473"/>
            <a:ext cx="7051752" cy="243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Diagrama de Funcionamento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782318" y="9980466"/>
            <a:ext cx="5549027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Figura 1– Diagrama de funcionamento do sistema EasyCharge.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7249" y="-192974"/>
            <a:ext cx="18441678" cy="10287000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198328" y="9705154"/>
            <a:ext cx="3086100" cy="536983"/>
            <a:chOff x="0" y="0"/>
            <a:chExt cx="812800" cy="1414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141428"/>
            </a:xfrm>
            <a:custGeom>
              <a:avLst/>
              <a:gdLst/>
              <a:ahLst/>
              <a:cxnLst/>
              <a:rect r="r" b="b" t="t" l="l"/>
              <a:pathLst>
                <a:path h="14142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1428"/>
                  </a:lnTo>
                  <a:lnTo>
                    <a:pt x="0" y="141428"/>
                  </a:lnTo>
                  <a:close/>
                </a:path>
              </a:pathLst>
            </a:custGeom>
            <a:solidFill>
              <a:srgbClr val="F0EFE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812800" cy="179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430883" y="6807751"/>
            <a:ext cx="3086100" cy="536983"/>
            <a:chOff x="0" y="0"/>
            <a:chExt cx="812800" cy="1414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141428"/>
            </a:xfrm>
            <a:custGeom>
              <a:avLst/>
              <a:gdLst/>
              <a:ahLst/>
              <a:cxnLst/>
              <a:rect r="r" b="b" t="t" l="l"/>
              <a:pathLst>
                <a:path h="14142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1428"/>
                  </a:lnTo>
                  <a:lnTo>
                    <a:pt x="0" y="141428"/>
                  </a:lnTo>
                  <a:close/>
                </a:path>
              </a:pathLst>
            </a:custGeom>
            <a:solidFill>
              <a:srgbClr val="F0EFE8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812800" cy="179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963159" y="6807751"/>
            <a:ext cx="3086100" cy="536983"/>
            <a:chOff x="0" y="0"/>
            <a:chExt cx="812800" cy="1414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141428"/>
            </a:xfrm>
            <a:custGeom>
              <a:avLst/>
              <a:gdLst/>
              <a:ahLst/>
              <a:cxnLst/>
              <a:rect r="r" b="b" t="t" l="l"/>
              <a:pathLst>
                <a:path h="14142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1428"/>
                  </a:lnTo>
                  <a:lnTo>
                    <a:pt x="0" y="141428"/>
                  </a:lnTo>
                  <a:close/>
                </a:path>
              </a:pathLst>
            </a:custGeom>
            <a:solidFill>
              <a:srgbClr val="F0EFE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12800" cy="179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837944" y="6807751"/>
            <a:ext cx="2801366" cy="729274"/>
            <a:chOff x="0" y="0"/>
            <a:chExt cx="737808" cy="1920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7808" cy="192072"/>
            </a:xfrm>
            <a:custGeom>
              <a:avLst/>
              <a:gdLst/>
              <a:ahLst/>
              <a:cxnLst/>
              <a:rect r="r" b="b" t="t" l="l"/>
              <a:pathLst>
                <a:path h="192072" w="737808">
                  <a:moveTo>
                    <a:pt x="0" y="0"/>
                  </a:moveTo>
                  <a:lnTo>
                    <a:pt x="737808" y="0"/>
                  </a:lnTo>
                  <a:lnTo>
                    <a:pt x="737808" y="192072"/>
                  </a:lnTo>
                  <a:lnTo>
                    <a:pt x="0" y="192072"/>
                  </a:lnTo>
                  <a:close/>
                </a:path>
              </a:pathLst>
            </a:custGeom>
            <a:solidFill>
              <a:srgbClr val="F0EFE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737808" cy="2301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332744" y="7268533"/>
            <a:ext cx="3086100" cy="536983"/>
            <a:chOff x="0" y="0"/>
            <a:chExt cx="812800" cy="14142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141428"/>
            </a:xfrm>
            <a:custGeom>
              <a:avLst/>
              <a:gdLst/>
              <a:ahLst/>
              <a:cxnLst/>
              <a:rect r="r" b="b" t="t" l="l"/>
              <a:pathLst>
                <a:path h="14142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1428"/>
                  </a:lnTo>
                  <a:lnTo>
                    <a:pt x="0" y="141428"/>
                  </a:lnTo>
                  <a:close/>
                </a:path>
              </a:pathLst>
            </a:custGeom>
            <a:solidFill>
              <a:srgbClr val="F0EFE8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812800" cy="179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22170" y="6807751"/>
            <a:ext cx="3086100" cy="536983"/>
            <a:chOff x="0" y="0"/>
            <a:chExt cx="812800" cy="14142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141428"/>
            </a:xfrm>
            <a:custGeom>
              <a:avLst/>
              <a:gdLst/>
              <a:ahLst/>
              <a:cxnLst/>
              <a:rect r="r" b="b" t="t" l="l"/>
              <a:pathLst>
                <a:path h="14142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1428"/>
                  </a:lnTo>
                  <a:lnTo>
                    <a:pt x="0" y="141428"/>
                  </a:lnTo>
                  <a:close/>
                </a:path>
              </a:pathLst>
            </a:custGeom>
            <a:solidFill>
              <a:srgbClr val="F0EFE8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812800" cy="179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75755" y="394112"/>
            <a:ext cx="8979230" cy="1126671"/>
            <a:chOff x="0" y="0"/>
            <a:chExt cx="2364900" cy="29673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364900" cy="296737"/>
            </a:xfrm>
            <a:custGeom>
              <a:avLst/>
              <a:gdLst/>
              <a:ahLst/>
              <a:cxnLst/>
              <a:rect r="r" b="b" t="t" l="l"/>
              <a:pathLst>
                <a:path h="296737" w="2364900">
                  <a:moveTo>
                    <a:pt x="0" y="0"/>
                  </a:moveTo>
                  <a:lnTo>
                    <a:pt x="2364900" y="0"/>
                  </a:lnTo>
                  <a:lnTo>
                    <a:pt x="2364900" y="296737"/>
                  </a:lnTo>
                  <a:lnTo>
                    <a:pt x="0" y="296737"/>
                  </a:lnTo>
                  <a:close/>
                </a:path>
              </a:pathLst>
            </a:custGeom>
            <a:solidFill>
              <a:srgbClr val="F0F0E6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364900" cy="3348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22170" y="348621"/>
            <a:ext cx="11971586" cy="1226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Ciclo de um carregamento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4444305" y="6309696"/>
            <a:ext cx="2650065" cy="808025"/>
            <a:chOff x="0" y="0"/>
            <a:chExt cx="697960" cy="21281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97960" cy="212813"/>
            </a:xfrm>
            <a:custGeom>
              <a:avLst/>
              <a:gdLst/>
              <a:ahLst/>
              <a:cxnLst/>
              <a:rect r="r" b="b" t="t" l="l"/>
              <a:pathLst>
                <a:path h="212813" w="697960">
                  <a:moveTo>
                    <a:pt x="0" y="0"/>
                  </a:moveTo>
                  <a:lnTo>
                    <a:pt x="697960" y="0"/>
                  </a:lnTo>
                  <a:lnTo>
                    <a:pt x="697960" y="212813"/>
                  </a:lnTo>
                  <a:lnTo>
                    <a:pt x="0" y="212813"/>
                  </a:lnTo>
                  <a:close/>
                </a:path>
              </a:pathLst>
            </a:custGeom>
            <a:solidFill>
              <a:srgbClr val="F0EFE8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697960" cy="2509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4444305" y="6835351"/>
            <a:ext cx="2566095" cy="36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Sinal “PORT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A:ABRIR:1”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935069" y="6858755"/>
            <a:ext cx="2417862" cy="36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Sinal “S1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:OCUPADO”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037425" y="6835351"/>
            <a:ext cx="2836218" cy="720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Sinal “CARGA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:INICIAR:1”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 “CARGA:PARAR:1”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80799" y="6858755"/>
            <a:ext cx="3245941" cy="36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Validação de credenciais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4416683" y="6217366"/>
            <a:ext cx="3050115" cy="592330"/>
            <a:chOff x="0" y="0"/>
            <a:chExt cx="803323" cy="15600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03323" cy="156005"/>
            </a:xfrm>
            <a:custGeom>
              <a:avLst/>
              <a:gdLst/>
              <a:ahLst/>
              <a:cxnLst/>
              <a:rect r="r" b="b" t="t" l="l"/>
              <a:pathLst>
                <a:path h="156005" w="803323">
                  <a:moveTo>
                    <a:pt x="0" y="0"/>
                  </a:moveTo>
                  <a:lnTo>
                    <a:pt x="803323" y="0"/>
                  </a:lnTo>
                  <a:lnTo>
                    <a:pt x="803323" y="156005"/>
                  </a:lnTo>
                  <a:lnTo>
                    <a:pt x="0" y="156005"/>
                  </a:lnTo>
                  <a:close/>
                </a:path>
              </a:pathLst>
            </a:custGeom>
            <a:solidFill>
              <a:srgbClr val="F0EFE8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803323" cy="194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4416683" y="6835351"/>
            <a:ext cx="2932063" cy="36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Retorno ao estado livre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760720" y="6245039"/>
            <a:ext cx="3086100" cy="536983"/>
            <a:chOff x="0" y="0"/>
            <a:chExt cx="812800" cy="14142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141428"/>
            </a:xfrm>
            <a:custGeom>
              <a:avLst/>
              <a:gdLst/>
              <a:ahLst/>
              <a:cxnLst/>
              <a:rect r="r" b="b" t="t" l="l"/>
              <a:pathLst>
                <a:path h="14142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1428"/>
                  </a:lnTo>
                  <a:lnTo>
                    <a:pt x="0" y="141428"/>
                  </a:lnTo>
                  <a:close/>
                </a:path>
              </a:pathLst>
            </a:custGeom>
            <a:solidFill>
              <a:srgbClr val="F0EFE8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812800" cy="179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957694" y="6252546"/>
            <a:ext cx="2654052" cy="464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1. Autenticação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761606" y="6252546"/>
            <a:ext cx="1931491" cy="464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 Abertura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7694445" y="6309696"/>
            <a:ext cx="2650065" cy="592330"/>
            <a:chOff x="0" y="0"/>
            <a:chExt cx="697960" cy="15600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97960" cy="156005"/>
            </a:xfrm>
            <a:custGeom>
              <a:avLst/>
              <a:gdLst/>
              <a:ahLst/>
              <a:cxnLst/>
              <a:rect r="r" b="b" t="t" l="l"/>
              <a:pathLst>
                <a:path h="156005" w="697960">
                  <a:moveTo>
                    <a:pt x="0" y="0"/>
                  </a:moveTo>
                  <a:lnTo>
                    <a:pt x="697960" y="0"/>
                  </a:lnTo>
                  <a:lnTo>
                    <a:pt x="697960" y="156005"/>
                  </a:lnTo>
                  <a:lnTo>
                    <a:pt x="0" y="156005"/>
                  </a:lnTo>
                  <a:close/>
                </a:path>
              </a:pathLst>
            </a:custGeom>
            <a:solidFill>
              <a:srgbClr val="F0EFE8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697960" cy="194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8246895" y="6252546"/>
            <a:ext cx="1786235" cy="464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3. Deteção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0944585" y="6189692"/>
            <a:ext cx="3050115" cy="592330"/>
            <a:chOff x="0" y="0"/>
            <a:chExt cx="803323" cy="15600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03323" cy="156005"/>
            </a:xfrm>
            <a:custGeom>
              <a:avLst/>
              <a:gdLst/>
              <a:ahLst/>
              <a:cxnLst/>
              <a:rect r="r" b="b" t="t" l="l"/>
              <a:pathLst>
                <a:path h="156005" w="803323">
                  <a:moveTo>
                    <a:pt x="0" y="0"/>
                  </a:moveTo>
                  <a:lnTo>
                    <a:pt x="803323" y="0"/>
                  </a:lnTo>
                  <a:lnTo>
                    <a:pt x="803323" y="156005"/>
                  </a:lnTo>
                  <a:lnTo>
                    <a:pt x="0" y="156005"/>
                  </a:lnTo>
                  <a:close/>
                </a:path>
              </a:pathLst>
            </a:custGeom>
            <a:solidFill>
              <a:srgbClr val="F0EFE8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803323" cy="194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1045209" y="6252546"/>
            <a:ext cx="2848868" cy="464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4. Carregamento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4699551" y="6252546"/>
            <a:ext cx="2208014" cy="464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5. Libertação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4079" y="3907472"/>
            <a:ext cx="4432076" cy="2917124"/>
            <a:chOff x="0" y="0"/>
            <a:chExt cx="1167296" cy="7682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67296" cy="768296"/>
            </a:xfrm>
            <a:custGeom>
              <a:avLst/>
              <a:gdLst/>
              <a:ahLst/>
              <a:cxnLst/>
              <a:rect r="r" b="b" t="t" l="l"/>
              <a:pathLst>
                <a:path h="768296" w="1167296">
                  <a:moveTo>
                    <a:pt x="89086" y="0"/>
                  </a:moveTo>
                  <a:lnTo>
                    <a:pt x="1078209" y="0"/>
                  </a:lnTo>
                  <a:cubicBezTo>
                    <a:pt x="1101836" y="0"/>
                    <a:pt x="1124496" y="9386"/>
                    <a:pt x="1141203" y="26093"/>
                  </a:cubicBezTo>
                  <a:cubicBezTo>
                    <a:pt x="1157910" y="42800"/>
                    <a:pt x="1167296" y="65459"/>
                    <a:pt x="1167296" y="89086"/>
                  </a:cubicBezTo>
                  <a:lnTo>
                    <a:pt x="1167296" y="679209"/>
                  </a:lnTo>
                  <a:cubicBezTo>
                    <a:pt x="1167296" y="702837"/>
                    <a:pt x="1157910" y="725496"/>
                    <a:pt x="1141203" y="742203"/>
                  </a:cubicBezTo>
                  <a:cubicBezTo>
                    <a:pt x="1124496" y="758910"/>
                    <a:pt x="1101836" y="768296"/>
                    <a:pt x="1078209" y="768296"/>
                  </a:cubicBezTo>
                  <a:lnTo>
                    <a:pt x="89086" y="768296"/>
                  </a:lnTo>
                  <a:cubicBezTo>
                    <a:pt x="39885" y="768296"/>
                    <a:pt x="0" y="728411"/>
                    <a:pt x="0" y="679209"/>
                  </a:cubicBezTo>
                  <a:lnTo>
                    <a:pt x="0" y="89086"/>
                  </a:lnTo>
                  <a:cubicBezTo>
                    <a:pt x="0" y="65459"/>
                    <a:pt x="9386" y="42800"/>
                    <a:pt x="26093" y="26093"/>
                  </a:cubicBezTo>
                  <a:cubicBezTo>
                    <a:pt x="42800" y="9386"/>
                    <a:pt x="65459" y="0"/>
                    <a:pt x="89086" y="0"/>
                  </a:cubicBezTo>
                  <a:close/>
                </a:path>
              </a:pathLst>
            </a:custGeom>
            <a:solidFill>
              <a:srgbClr val="B8B8B8">
                <a:alpha val="2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167296" cy="787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958122" y="3907472"/>
            <a:ext cx="4432076" cy="2917124"/>
            <a:chOff x="0" y="0"/>
            <a:chExt cx="1167296" cy="7682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67296" cy="768296"/>
            </a:xfrm>
            <a:custGeom>
              <a:avLst/>
              <a:gdLst/>
              <a:ahLst/>
              <a:cxnLst/>
              <a:rect r="r" b="b" t="t" l="l"/>
              <a:pathLst>
                <a:path h="768296" w="1167296">
                  <a:moveTo>
                    <a:pt x="89086" y="0"/>
                  </a:moveTo>
                  <a:lnTo>
                    <a:pt x="1078209" y="0"/>
                  </a:lnTo>
                  <a:cubicBezTo>
                    <a:pt x="1101836" y="0"/>
                    <a:pt x="1124496" y="9386"/>
                    <a:pt x="1141203" y="26093"/>
                  </a:cubicBezTo>
                  <a:cubicBezTo>
                    <a:pt x="1157910" y="42800"/>
                    <a:pt x="1167296" y="65459"/>
                    <a:pt x="1167296" y="89086"/>
                  </a:cubicBezTo>
                  <a:lnTo>
                    <a:pt x="1167296" y="679209"/>
                  </a:lnTo>
                  <a:cubicBezTo>
                    <a:pt x="1167296" y="702837"/>
                    <a:pt x="1157910" y="725496"/>
                    <a:pt x="1141203" y="742203"/>
                  </a:cubicBezTo>
                  <a:cubicBezTo>
                    <a:pt x="1124496" y="758910"/>
                    <a:pt x="1101836" y="768296"/>
                    <a:pt x="1078209" y="768296"/>
                  </a:cubicBezTo>
                  <a:lnTo>
                    <a:pt x="89086" y="768296"/>
                  </a:lnTo>
                  <a:cubicBezTo>
                    <a:pt x="39885" y="768296"/>
                    <a:pt x="0" y="728411"/>
                    <a:pt x="0" y="679209"/>
                  </a:cubicBezTo>
                  <a:lnTo>
                    <a:pt x="0" y="89086"/>
                  </a:lnTo>
                  <a:cubicBezTo>
                    <a:pt x="0" y="65459"/>
                    <a:pt x="9386" y="42800"/>
                    <a:pt x="26093" y="26093"/>
                  </a:cubicBezTo>
                  <a:cubicBezTo>
                    <a:pt x="42800" y="9386"/>
                    <a:pt x="65459" y="0"/>
                    <a:pt x="89086" y="0"/>
                  </a:cubicBezTo>
                  <a:close/>
                </a:path>
              </a:pathLst>
            </a:custGeom>
            <a:solidFill>
              <a:srgbClr val="B8B8B8">
                <a:alpha val="2980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167296" cy="787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362164" y="3907472"/>
            <a:ext cx="4432076" cy="2917124"/>
            <a:chOff x="0" y="0"/>
            <a:chExt cx="1167296" cy="7682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67296" cy="768296"/>
            </a:xfrm>
            <a:custGeom>
              <a:avLst/>
              <a:gdLst/>
              <a:ahLst/>
              <a:cxnLst/>
              <a:rect r="r" b="b" t="t" l="l"/>
              <a:pathLst>
                <a:path h="768296" w="1167296">
                  <a:moveTo>
                    <a:pt x="89086" y="0"/>
                  </a:moveTo>
                  <a:lnTo>
                    <a:pt x="1078209" y="0"/>
                  </a:lnTo>
                  <a:cubicBezTo>
                    <a:pt x="1101836" y="0"/>
                    <a:pt x="1124496" y="9386"/>
                    <a:pt x="1141203" y="26093"/>
                  </a:cubicBezTo>
                  <a:cubicBezTo>
                    <a:pt x="1157910" y="42800"/>
                    <a:pt x="1167296" y="65459"/>
                    <a:pt x="1167296" y="89086"/>
                  </a:cubicBezTo>
                  <a:lnTo>
                    <a:pt x="1167296" y="679209"/>
                  </a:lnTo>
                  <a:cubicBezTo>
                    <a:pt x="1167296" y="702837"/>
                    <a:pt x="1157910" y="725496"/>
                    <a:pt x="1141203" y="742203"/>
                  </a:cubicBezTo>
                  <a:cubicBezTo>
                    <a:pt x="1124496" y="758910"/>
                    <a:pt x="1101836" y="768296"/>
                    <a:pt x="1078209" y="768296"/>
                  </a:cubicBezTo>
                  <a:lnTo>
                    <a:pt x="89086" y="768296"/>
                  </a:lnTo>
                  <a:cubicBezTo>
                    <a:pt x="39885" y="768296"/>
                    <a:pt x="0" y="728411"/>
                    <a:pt x="0" y="679209"/>
                  </a:cubicBezTo>
                  <a:lnTo>
                    <a:pt x="0" y="89086"/>
                  </a:lnTo>
                  <a:cubicBezTo>
                    <a:pt x="0" y="65459"/>
                    <a:pt x="9386" y="42800"/>
                    <a:pt x="26093" y="26093"/>
                  </a:cubicBezTo>
                  <a:cubicBezTo>
                    <a:pt x="42800" y="9386"/>
                    <a:pt x="65459" y="0"/>
                    <a:pt x="89086" y="0"/>
                  </a:cubicBezTo>
                  <a:close/>
                </a:path>
              </a:pathLst>
            </a:custGeom>
            <a:solidFill>
              <a:srgbClr val="B8B8B8">
                <a:alpha val="29804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167296" cy="787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-2329303">
            <a:off x="1598097" y="7908686"/>
            <a:ext cx="890687" cy="2126157"/>
          </a:xfrm>
          <a:custGeom>
            <a:avLst/>
            <a:gdLst/>
            <a:ahLst/>
            <a:cxnLst/>
            <a:rect r="r" b="b" t="t" l="l"/>
            <a:pathLst>
              <a:path h="2126157" w="890687">
                <a:moveTo>
                  <a:pt x="0" y="0"/>
                </a:moveTo>
                <a:lnTo>
                  <a:pt x="890687" y="0"/>
                </a:lnTo>
                <a:lnTo>
                  <a:pt x="890687" y="2126157"/>
                </a:lnTo>
                <a:lnTo>
                  <a:pt x="0" y="21261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0376" t="0" r="-68332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145895">
            <a:off x="3131142" y="7739889"/>
            <a:ext cx="3215979" cy="2010906"/>
          </a:xfrm>
          <a:custGeom>
            <a:avLst/>
            <a:gdLst/>
            <a:ahLst/>
            <a:cxnLst/>
            <a:rect r="r" b="b" t="t" l="l"/>
            <a:pathLst>
              <a:path h="2010906" w="3215979">
                <a:moveTo>
                  <a:pt x="0" y="0"/>
                </a:moveTo>
                <a:lnTo>
                  <a:pt x="3215979" y="0"/>
                </a:lnTo>
                <a:lnTo>
                  <a:pt x="3215979" y="2010905"/>
                </a:lnTo>
                <a:lnTo>
                  <a:pt x="0" y="2010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892" t="-42770" r="-6065" b="-3788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893074" y="7463753"/>
            <a:ext cx="943069" cy="943069"/>
          </a:xfrm>
          <a:custGeom>
            <a:avLst/>
            <a:gdLst/>
            <a:ahLst/>
            <a:cxnLst/>
            <a:rect r="r" b="b" t="t" l="l"/>
            <a:pathLst>
              <a:path h="943069" w="943069">
                <a:moveTo>
                  <a:pt x="0" y="0"/>
                </a:moveTo>
                <a:lnTo>
                  <a:pt x="943068" y="0"/>
                </a:lnTo>
                <a:lnTo>
                  <a:pt x="943068" y="943069"/>
                </a:lnTo>
                <a:lnTo>
                  <a:pt x="0" y="9430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355944" y="7463753"/>
            <a:ext cx="1451309" cy="943069"/>
          </a:xfrm>
          <a:custGeom>
            <a:avLst/>
            <a:gdLst/>
            <a:ahLst/>
            <a:cxnLst/>
            <a:rect r="r" b="b" t="t" l="l"/>
            <a:pathLst>
              <a:path h="943069" w="1451309">
                <a:moveTo>
                  <a:pt x="0" y="0"/>
                </a:moveTo>
                <a:lnTo>
                  <a:pt x="1451309" y="0"/>
                </a:lnTo>
                <a:lnTo>
                  <a:pt x="1451309" y="943069"/>
                </a:lnTo>
                <a:lnTo>
                  <a:pt x="0" y="9430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403790" y="8761265"/>
            <a:ext cx="1442319" cy="1009623"/>
          </a:xfrm>
          <a:custGeom>
            <a:avLst/>
            <a:gdLst/>
            <a:ahLst/>
            <a:cxnLst/>
            <a:rect r="r" b="b" t="t" l="l"/>
            <a:pathLst>
              <a:path h="1009623" w="1442319">
                <a:moveTo>
                  <a:pt x="0" y="0"/>
                </a:moveTo>
                <a:lnTo>
                  <a:pt x="1442320" y="0"/>
                </a:lnTo>
                <a:lnTo>
                  <a:pt x="1442320" y="1009624"/>
                </a:lnTo>
                <a:lnTo>
                  <a:pt x="0" y="10096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921744" y="7269113"/>
            <a:ext cx="1702651" cy="1702651"/>
          </a:xfrm>
          <a:custGeom>
            <a:avLst/>
            <a:gdLst/>
            <a:ahLst/>
            <a:cxnLst/>
            <a:rect r="r" b="b" t="t" l="l"/>
            <a:pathLst>
              <a:path h="1702651" w="1702651">
                <a:moveTo>
                  <a:pt x="0" y="0"/>
                </a:moveTo>
                <a:lnTo>
                  <a:pt x="1702651" y="0"/>
                </a:lnTo>
                <a:lnTo>
                  <a:pt x="1702651" y="1702651"/>
                </a:lnTo>
                <a:lnTo>
                  <a:pt x="0" y="170265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967531" y="7613972"/>
            <a:ext cx="768000" cy="1012933"/>
          </a:xfrm>
          <a:custGeom>
            <a:avLst/>
            <a:gdLst/>
            <a:ahLst/>
            <a:cxnLst/>
            <a:rect r="r" b="b" t="t" l="l"/>
            <a:pathLst>
              <a:path h="1012933" w="768000">
                <a:moveTo>
                  <a:pt x="0" y="0"/>
                </a:moveTo>
                <a:lnTo>
                  <a:pt x="768000" y="0"/>
                </a:lnTo>
                <a:lnTo>
                  <a:pt x="768000" y="1012933"/>
                </a:lnTo>
                <a:lnTo>
                  <a:pt x="0" y="10129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82982" t="-27184" r="-179682" b="-26724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690650" y="857250"/>
            <a:ext cx="12906701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Tecnologias Utilizadas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9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925118" y="4171499"/>
            <a:ext cx="3481419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Hardware: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42257" y="4889751"/>
            <a:ext cx="3839515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ESP32;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Basys2 (FPGA).</a:t>
            </a:r>
          </a:p>
          <a:p>
            <a:pPr algn="l">
              <a:lnSpc>
                <a:spcPts val="3079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7305149" y="4171499"/>
            <a:ext cx="4090029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Software: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252553" y="4770168"/>
            <a:ext cx="3839515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Arduino IDE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Xilinx ISE;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MIT </a:t>
            </a: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App Inventor.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714172" y="4171499"/>
            <a:ext cx="4090029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Comunicação: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704637" y="4889751"/>
            <a:ext cx="3839515" cy="154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USB;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Blu</a:t>
            </a: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etooth;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Sinais digitais GPIO.</a:t>
            </a:r>
          </a:p>
          <a:p>
            <a:pPr algn="l">
              <a:lnSpc>
                <a:spcPts val="307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2514" y="2288815"/>
            <a:ext cx="5850065" cy="4693868"/>
            <a:chOff x="0" y="0"/>
            <a:chExt cx="1167296" cy="93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67296" cy="936593"/>
            </a:xfrm>
            <a:custGeom>
              <a:avLst/>
              <a:gdLst/>
              <a:ahLst/>
              <a:cxnLst/>
              <a:rect r="r" b="b" t="t" l="l"/>
              <a:pathLst>
                <a:path h="936593" w="1167296">
                  <a:moveTo>
                    <a:pt x="67493" y="0"/>
                  </a:moveTo>
                  <a:lnTo>
                    <a:pt x="1099803" y="0"/>
                  </a:lnTo>
                  <a:cubicBezTo>
                    <a:pt x="1137078" y="0"/>
                    <a:pt x="1167296" y="30218"/>
                    <a:pt x="1167296" y="67493"/>
                  </a:cubicBezTo>
                  <a:lnTo>
                    <a:pt x="1167296" y="869100"/>
                  </a:lnTo>
                  <a:cubicBezTo>
                    <a:pt x="1167296" y="887001"/>
                    <a:pt x="1160185" y="904168"/>
                    <a:pt x="1147527" y="916825"/>
                  </a:cubicBezTo>
                  <a:cubicBezTo>
                    <a:pt x="1134870" y="929483"/>
                    <a:pt x="1117703" y="936593"/>
                    <a:pt x="1099803" y="936593"/>
                  </a:cubicBezTo>
                  <a:lnTo>
                    <a:pt x="67493" y="936593"/>
                  </a:lnTo>
                  <a:cubicBezTo>
                    <a:pt x="30218" y="936593"/>
                    <a:pt x="0" y="906376"/>
                    <a:pt x="0" y="869100"/>
                  </a:cubicBezTo>
                  <a:lnTo>
                    <a:pt x="0" y="67493"/>
                  </a:lnTo>
                  <a:cubicBezTo>
                    <a:pt x="0" y="30218"/>
                    <a:pt x="30218" y="0"/>
                    <a:pt x="67493" y="0"/>
                  </a:cubicBezTo>
                  <a:close/>
                </a:path>
              </a:pathLst>
            </a:custGeom>
            <a:solidFill>
              <a:srgbClr val="B8B8B8">
                <a:alpha val="2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167296" cy="955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82514" y="7287483"/>
            <a:ext cx="5850065" cy="2556055"/>
            <a:chOff x="0" y="0"/>
            <a:chExt cx="1167296" cy="5100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67296" cy="510024"/>
            </a:xfrm>
            <a:custGeom>
              <a:avLst/>
              <a:gdLst/>
              <a:ahLst/>
              <a:cxnLst/>
              <a:rect r="r" b="b" t="t" l="l"/>
              <a:pathLst>
                <a:path h="510024" w="1167296">
                  <a:moveTo>
                    <a:pt x="67493" y="0"/>
                  </a:moveTo>
                  <a:lnTo>
                    <a:pt x="1099803" y="0"/>
                  </a:lnTo>
                  <a:cubicBezTo>
                    <a:pt x="1137078" y="0"/>
                    <a:pt x="1167296" y="30218"/>
                    <a:pt x="1167296" y="67493"/>
                  </a:cubicBezTo>
                  <a:lnTo>
                    <a:pt x="1167296" y="442531"/>
                  </a:lnTo>
                  <a:cubicBezTo>
                    <a:pt x="1167296" y="479806"/>
                    <a:pt x="1137078" y="510024"/>
                    <a:pt x="1099803" y="510024"/>
                  </a:cubicBezTo>
                  <a:lnTo>
                    <a:pt x="67493" y="510024"/>
                  </a:lnTo>
                  <a:cubicBezTo>
                    <a:pt x="30218" y="510024"/>
                    <a:pt x="0" y="479806"/>
                    <a:pt x="0" y="442531"/>
                  </a:cubicBezTo>
                  <a:lnTo>
                    <a:pt x="0" y="67493"/>
                  </a:lnTo>
                  <a:cubicBezTo>
                    <a:pt x="0" y="30218"/>
                    <a:pt x="30218" y="0"/>
                    <a:pt x="67493" y="0"/>
                  </a:cubicBezTo>
                  <a:close/>
                </a:path>
              </a:pathLst>
            </a:custGeom>
            <a:solidFill>
              <a:srgbClr val="B8B8B8">
                <a:alpha val="2980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167296" cy="5290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953929" y="2572428"/>
            <a:ext cx="7417308" cy="6987497"/>
          </a:xfrm>
          <a:custGeom>
            <a:avLst/>
            <a:gdLst/>
            <a:ahLst/>
            <a:cxnLst/>
            <a:rect r="r" b="b" t="t" l="l"/>
            <a:pathLst>
              <a:path h="6987497" w="7417308">
                <a:moveTo>
                  <a:pt x="0" y="0"/>
                </a:moveTo>
                <a:lnTo>
                  <a:pt x="7417308" y="0"/>
                </a:lnTo>
                <a:lnTo>
                  <a:pt x="7417308" y="6987497"/>
                </a:lnTo>
                <a:lnTo>
                  <a:pt x="0" y="69874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82514" y="541070"/>
            <a:ext cx="15922972" cy="1467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40"/>
              </a:lnSpc>
            </a:pPr>
            <a:r>
              <a:rPr lang="en-US" sz="8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Implementação do Hardware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33994" y="2643409"/>
            <a:ext cx="5398584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967" b="true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ESP32: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73586" y="3391009"/>
            <a:ext cx="5039267" cy="3060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0583" indent="-270292" lvl="1">
              <a:lnSpc>
                <a:spcPts val="3505"/>
              </a:lnSpc>
              <a:buFont typeface="Arial"/>
              <a:buChar char="•"/>
            </a:pPr>
            <a:r>
              <a:rPr lang="en-US" sz="250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Comu</a:t>
            </a:r>
            <a:r>
              <a:rPr lang="en-US" sz="250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nicação com computador;</a:t>
            </a:r>
          </a:p>
          <a:p>
            <a:pPr algn="l" marL="540583" indent="-270292" lvl="1">
              <a:lnSpc>
                <a:spcPts val="3505"/>
              </a:lnSpc>
              <a:buFont typeface="Arial"/>
              <a:buChar char="•"/>
            </a:pPr>
            <a:r>
              <a:rPr lang="en-US" sz="250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Comunicação com smartphone;</a:t>
            </a:r>
          </a:p>
          <a:p>
            <a:pPr algn="l" marL="540583" indent="-270292" lvl="1">
              <a:lnSpc>
                <a:spcPts val="3505"/>
              </a:lnSpc>
              <a:buFont typeface="Arial"/>
              <a:buChar char="•"/>
            </a:pPr>
            <a:r>
              <a:rPr lang="en-US" sz="250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Leitura de estados;</a:t>
            </a:r>
          </a:p>
          <a:p>
            <a:pPr algn="l" marL="540583" indent="-270292" lvl="1">
              <a:lnSpc>
                <a:spcPts val="3505"/>
              </a:lnSpc>
              <a:buFont typeface="Arial"/>
              <a:buChar char="•"/>
            </a:pPr>
            <a:r>
              <a:rPr lang="en-US" sz="250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Envio de comandos.</a:t>
            </a:r>
          </a:p>
          <a:p>
            <a:pPr algn="l">
              <a:lnSpc>
                <a:spcPts val="3505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633994" y="7509380"/>
            <a:ext cx="539858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1"/>
              </a:lnSpc>
            </a:pPr>
            <a:r>
              <a:rPr lang="en-US" sz="2867" b="true">
                <a:solidFill>
                  <a:srgbClr val="191919"/>
                </a:solidFill>
                <a:latin typeface="Poppins Bold"/>
                <a:ea typeface="Poppins Bold"/>
                <a:cs typeface="Poppins Bold"/>
                <a:sym typeface="Poppins Bold"/>
              </a:rPr>
              <a:t>Basys2: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05263" y="8120372"/>
            <a:ext cx="5067921" cy="1308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0583" indent="-270292" lvl="1">
              <a:lnSpc>
                <a:spcPts val="3505"/>
              </a:lnSpc>
              <a:buFont typeface="Arial"/>
              <a:buChar char="•"/>
            </a:pPr>
            <a:r>
              <a:rPr lang="en-US" sz="250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Lógica digital;</a:t>
            </a:r>
          </a:p>
          <a:p>
            <a:pPr algn="l" marL="540583" indent="-270292" lvl="1">
              <a:lnSpc>
                <a:spcPts val="3505"/>
              </a:lnSpc>
              <a:buFont typeface="Arial"/>
              <a:buChar char="•"/>
            </a:pPr>
            <a:r>
              <a:rPr lang="en-US" sz="250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lang="en-US" sz="250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áqui</a:t>
            </a:r>
            <a:r>
              <a:rPr lang="en-US" sz="250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na de estados;</a:t>
            </a:r>
          </a:p>
          <a:p>
            <a:pPr algn="l" marL="540583" indent="-270292" lvl="1">
              <a:lnSpc>
                <a:spcPts val="3505"/>
              </a:lnSpc>
              <a:buFont typeface="Arial"/>
              <a:buChar char="•"/>
            </a:pPr>
            <a:r>
              <a:rPr lang="en-US" sz="250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Simulação dos cacifos.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67199" y="9647640"/>
            <a:ext cx="5190768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Figura 2– Montagem prática do sistema EasyCharge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35587" y="1787987"/>
            <a:ext cx="13816826" cy="7771965"/>
          </a:xfrm>
          <a:custGeom>
            <a:avLst/>
            <a:gdLst/>
            <a:ahLst/>
            <a:cxnLst/>
            <a:rect r="r" b="b" t="t" l="l"/>
            <a:pathLst>
              <a:path h="7771965" w="13816826">
                <a:moveTo>
                  <a:pt x="0" y="0"/>
                </a:moveTo>
                <a:lnTo>
                  <a:pt x="13816826" y="0"/>
                </a:lnTo>
                <a:lnTo>
                  <a:pt x="13816826" y="7771965"/>
                </a:lnTo>
                <a:lnTo>
                  <a:pt x="0" y="77719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850335" y="50071"/>
            <a:ext cx="4587329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Circuito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846386" y="281715"/>
            <a:ext cx="1703427" cy="1703427"/>
          </a:xfrm>
          <a:custGeom>
            <a:avLst/>
            <a:gdLst/>
            <a:ahLst/>
            <a:cxnLst/>
            <a:rect r="r" b="b" t="t" l="l"/>
            <a:pathLst>
              <a:path h="1703427" w="1703427">
                <a:moveTo>
                  <a:pt x="0" y="0"/>
                </a:moveTo>
                <a:lnTo>
                  <a:pt x="1703426" y="0"/>
                </a:lnTo>
                <a:lnTo>
                  <a:pt x="1703426" y="1703427"/>
                </a:lnTo>
                <a:lnTo>
                  <a:pt x="0" y="17034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26718" y="702548"/>
            <a:ext cx="3128407" cy="861760"/>
          </a:xfrm>
          <a:custGeom>
            <a:avLst/>
            <a:gdLst/>
            <a:ahLst/>
            <a:cxnLst/>
            <a:rect r="r" b="b" t="t" l="l"/>
            <a:pathLst>
              <a:path h="861760" w="3128407">
                <a:moveTo>
                  <a:pt x="0" y="0"/>
                </a:moveTo>
                <a:lnTo>
                  <a:pt x="3128407" y="0"/>
                </a:lnTo>
                <a:lnTo>
                  <a:pt x="3128407" y="861761"/>
                </a:lnTo>
                <a:lnTo>
                  <a:pt x="0" y="8617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37792" y="159703"/>
            <a:ext cx="8412416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Base de Dados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12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42553" y="2847647"/>
            <a:ext cx="8718273" cy="6109518"/>
            <a:chOff x="0" y="0"/>
            <a:chExt cx="2296171" cy="16090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96171" cy="1609091"/>
            </a:xfrm>
            <a:custGeom>
              <a:avLst/>
              <a:gdLst/>
              <a:ahLst/>
              <a:cxnLst/>
              <a:rect r="r" b="b" t="t" l="l"/>
              <a:pathLst>
                <a:path h="1609091" w="2296171">
                  <a:moveTo>
                    <a:pt x="45289" y="0"/>
                  </a:moveTo>
                  <a:lnTo>
                    <a:pt x="2250882" y="0"/>
                  </a:lnTo>
                  <a:cubicBezTo>
                    <a:pt x="2262893" y="0"/>
                    <a:pt x="2274413" y="4771"/>
                    <a:pt x="2282906" y="13265"/>
                  </a:cubicBezTo>
                  <a:cubicBezTo>
                    <a:pt x="2291399" y="21758"/>
                    <a:pt x="2296171" y="33277"/>
                    <a:pt x="2296171" y="45289"/>
                  </a:cubicBezTo>
                  <a:lnTo>
                    <a:pt x="2296171" y="1563803"/>
                  </a:lnTo>
                  <a:cubicBezTo>
                    <a:pt x="2296171" y="1575814"/>
                    <a:pt x="2291399" y="1587333"/>
                    <a:pt x="2282906" y="1595827"/>
                  </a:cubicBezTo>
                  <a:cubicBezTo>
                    <a:pt x="2274413" y="1604320"/>
                    <a:pt x="2262893" y="1609091"/>
                    <a:pt x="2250882" y="1609091"/>
                  </a:cubicBezTo>
                  <a:lnTo>
                    <a:pt x="45289" y="1609091"/>
                  </a:lnTo>
                  <a:cubicBezTo>
                    <a:pt x="33277" y="1609091"/>
                    <a:pt x="21758" y="1604320"/>
                    <a:pt x="13265" y="1595827"/>
                  </a:cubicBezTo>
                  <a:cubicBezTo>
                    <a:pt x="4771" y="1587333"/>
                    <a:pt x="0" y="1575814"/>
                    <a:pt x="0" y="1563803"/>
                  </a:cubicBezTo>
                  <a:lnTo>
                    <a:pt x="0" y="45289"/>
                  </a:lnTo>
                  <a:cubicBezTo>
                    <a:pt x="0" y="33277"/>
                    <a:pt x="4771" y="21758"/>
                    <a:pt x="13265" y="13265"/>
                  </a:cubicBezTo>
                  <a:cubicBezTo>
                    <a:pt x="21758" y="4771"/>
                    <a:pt x="33277" y="0"/>
                    <a:pt x="45289" y="0"/>
                  </a:cubicBezTo>
                  <a:close/>
                </a:path>
              </a:pathLst>
            </a:custGeom>
            <a:solidFill>
              <a:srgbClr val="B8B8B8">
                <a:alpha val="29804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296171" cy="16281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195894" y="3075340"/>
            <a:ext cx="8011590" cy="545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0"/>
              </a:lnSpc>
            </a:pPr>
            <a:r>
              <a:rPr lang="en-US" b="true" sz="2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sistema EasyCharge utiliza duas soluções de armazenamento de dados:</a:t>
            </a:r>
          </a:p>
          <a:p>
            <a:pPr algn="just">
              <a:lnSpc>
                <a:spcPts val="4050"/>
              </a:lnSpc>
            </a:pPr>
          </a:p>
          <a:p>
            <a:pPr algn="l" marL="582932" indent="-291466" lvl="1">
              <a:lnSpc>
                <a:spcPts val="405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CloudDB (MIT App Inventor)</a:t>
            </a:r>
          </a:p>
          <a:p>
            <a:pPr algn="just">
              <a:lnSpc>
                <a:spcPts val="3750"/>
              </a:lnSpc>
            </a:pP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Utilizado para guardar dados online (utilizadores, histórico de carregamentos e pontos de carga).</a:t>
            </a:r>
          </a:p>
          <a:p>
            <a:pPr algn="just">
              <a:lnSpc>
                <a:spcPts val="4050"/>
              </a:lnSpc>
            </a:pPr>
          </a:p>
          <a:p>
            <a:pPr algn="l" marL="582932" indent="-291466" lvl="1">
              <a:lnSpc>
                <a:spcPts val="405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TinyDB (local)</a:t>
            </a:r>
          </a:p>
          <a:p>
            <a:pPr algn="just">
              <a:lnSpc>
                <a:spcPts val="3750"/>
              </a:lnSpc>
            </a:pP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Utilizado para guardar dados no próprio dispositivo, como sessão do utilizador e estatísticas (número de cargas, energia e custo total).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74989" y="2097643"/>
            <a:ext cx="8097564" cy="5772439"/>
            <a:chOff x="0" y="0"/>
            <a:chExt cx="2132692" cy="152031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32692" cy="1520313"/>
            </a:xfrm>
            <a:custGeom>
              <a:avLst/>
              <a:gdLst/>
              <a:ahLst/>
              <a:cxnLst/>
              <a:rect r="r" b="b" t="t" l="l"/>
              <a:pathLst>
                <a:path h="1520313" w="2132692">
                  <a:moveTo>
                    <a:pt x="48760" y="0"/>
                  </a:moveTo>
                  <a:lnTo>
                    <a:pt x="2083932" y="0"/>
                  </a:lnTo>
                  <a:cubicBezTo>
                    <a:pt x="2096864" y="0"/>
                    <a:pt x="2109266" y="5137"/>
                    <a:pt x="2118410" y="14282"/>
                  </a:cubicBezTo>
                  <a:cubicBezTo>
                    <a:pt x="2127554" y="23426"/>
                    <a:pt x="2132692" y="35828"/>
                    <a:pt x="2132692" y="48760"/>
                  </a:cubicBezTo>
                  <a:lnTo>
                    <a:pt x="2132692" y="1471553"/>
                  </a:lnTo>
                  <a:cubicBezTo>
                    <a:pt x="2132692" y="1498482"/>
                    <a:pt x="2110861" y="1520313"/>
                    <a:pt x="2083932" y="1520313"/>
                  </a:cubicBezTo>
                  <a:lnTo>
                    <a:pt x="48760" y="1520313"/>
                  </a:lnTo>
                  <a:cubicBezTo>
                    <a:pt x="21831" y="1520313"/>
                    <a:pt x="0" y="1498482"/>
                    <a:pt x="0" y="1471553"/>
                  </a:cubicBezTo>
                  <a:lnTo>
                    <a:pt x="0" y="48760"/>
                  </a:lnTo>
                  <a:cubicBezTo>
                    <a:pt x="0" y="21831"/>
                    <a:pt x="21831" y="0"/>
                    <a:pt x="48760" y="0"/>
                  </a:cubicBezTo>
                  <a:close/>
                </a:path>
              </a:pathLst>
            </a:custGeom>
            <a:solidFill>
              <a:srgbClr val="B8B8B8">
                <a:alpha val="29804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2132692" cy="1539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331249" y="2269643"/>
            <a:ext cx="7288262" cy="5473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utilizadores/</a:t>
            </a:r>
          </a:p>
          <a:p>
            <a:pPr algn="l">
              <a:lnSpc>
                <a:spcPts val="240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email@exemplo.com/</a:t>
            </a:r>
          </a:p>
          <a:p>
            <a:pPr algn="l">
              <a:lnSpc>
                <a:spcPts val="240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            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nome: "Rodrigo Belchior"</a:t>
            </a:r>
          </a:p>
          <a:p>
            <a:pPr algn="l">
              <a:lnSpc>
                <a:spcPts val="240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            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password: "********"</a:t>
            </a:r>
          </a:p>
          <a:p>
            <a:pPr algn="l">
              <a:lnSpc>
                <a:spcPts val="240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             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telemovel: "912345678"</a:t>
            </a:r>
          </a:p>
          <a:p>
            <a:pPr algn="l">
              <a:lnSpc>
                <a:spcPts val="240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historico/</a:t>
            </a:r>
          </a:p>
          <a:p>
            <a:pPr algn="l">
              <a:lnSpc>
                <a:spcPts val="240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  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email@exemplo.com/</a:t>
            </a:r>
          </a:p>
          <a:p>
            <a:pPr algn="l">
              <a:lnSpc>
                <a:spcPts val="240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             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lista de carregamentos:</a:t>
            </a:r>
          </a:p>
          <a:p>
            <a:pPr algn="l">
              <a:lnSpc>
                <a:spcPts val="240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                    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[</a:t>
            </a:r>
          </a:p>
          <a:p>
            <a:pPr algn="l">
              <a:lnSpc>
                <a:spcPts val="240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                         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"2026-04-12 10:55|IPS Tecnologia|1|1.40|0.18|00:03:19",</a:t>
            </a:r>
          </a:p>
          <a:p>
            <a:pPr algn="l">
              <a:lnSpc>
                <a:spcPts val="240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                         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"2026-04-12 15:41|IPS Tecnologia|2|0.50|0.06|00:01:39"</a:t>
            </a:r>
          </a:p>
          <a:p>
            <a:pPr algn="l">
              <a:lnSpc>
                <a:spcPts val="240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                     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]</a:t>
            </a:r>
          </a:p>
          <a:p>
            <a:pPr algn="l">
              <a:lnSpc>
                <a:spcPts val="240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pontos/</a:t>
            </a:r>
          </a:p>
          <a:p>
            <a:pPr algn="l">
              <a:lnSpc>
                <a:spcPts val="240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   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lista de pontos de carga:</a:t>
            </a:r>
          </a:p>
          <a:p>
            <a:pPr algn="l">
              <a:lnSpc>
                <a:spcPts val="240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             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[</a:t>
            </a:r>
          </a:p>
          <a:p>
            <a:pPr algn="l">
              <a:lnSpc>
                <a:spcPts val="240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                     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"IPS Tecnologia|Disponível|4|38.521838|-8.838941",</a:t>
            </a:r>
          </a:p>
          <a:p>
            <a:pPr algn="l">
              <a:lnSpc>
                <a:spcPts val="240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                      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"IPS Educação|Disponível|4|38.519644|-8.838727"</a:t>
            </a:r>
          </a:p>
          <a:p>
            <a:pPr algn="l">
              <a:lnSpc>
                <a:spcPts val="240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              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]                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974989" y="8089157"/>
            <a:ext cx="8097564" cy="1736018"/>
            <a:chOff x="0" y="0"/>
            <a:chExt cx="2132692" cy="45722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32692" cy="457223"/>
            </a:xfrm>
            <a:custGeom>
              <a:avLst/>
              <a:gdLst/>
              <a:ahLst/>
              <a:cxnLst/>
              <a:rect r="r" b="b" t="t" l="l"/>
              <a:pathLst>
                <a:path h="457223" w="2132692">
                  <a:moveTo>
                    <a:pt x="48760" y="0"/>
                  </a:moveTo>
                  <a:lnTo>
                    <a:pt x="2083932" y="0"/>
                  </a:lnTo>
                  <a:cubicBezTo>
                    <a:pt x="2096864" y="0"/>
                    <a:pt x="2109266" y="5137"/>
                    <a:pt x="2118410" y="14282"/>
                  </a:cubicBezTo>
                  <a:cubicBezTo>
                    <a:pt x="2127554" y="23426"/>
                    <a:pt x="2132692" y="35828"/>
                    <a:pt x="2132692" y="48760"/>
                  </a:cubicBezTo>
                  <a:lnTo>
                    <a:pt x="2132692" y="408463"/>
                  </a:lnTo>
                  <a:cubicBezTo>
                    <a:pt x="2132692" y="435392"/>
                    <a:pt x="2110861" y="457223"/>
                    <a:pt x="2083932" y="457223"/>
                  </a:cubicBezTo>
                  <a:lnTo>
                    <a:pt x="48760" y="457223"/>
                  </a:lnTo>
                  <a:cubicBezTo>
                    <a:pt x="21831" y="457223"/>
                    <a:pt x="0" y="435392"/>
                    <a:pt x="0" y="408463"/>
                  </a:cubicBezTo>
                  <a:lnTo>
                    <a:pt x="0" y="48760"/>
                  </a:lnTo>
                  <a:cubicBezTo>
                    <a:pt x="0" y="21831"/>
                    <a:pt x="21831" y="0"/>
                    <a:pt x="48760" y="0"/>
                  </a:cubicBezTo>
                  <a:close/>
                </a:path>
              </a:pathLst>
            </a:custGeom>
            <a:solidFill>
              <a:srgbClr val="B8B8B8">
                <a:alpha val="29804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2132692" cy="476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331249" y="8178021"/>
            <a:ext cx="7574796" cy="1510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email_sessao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-&gt; ema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il@exemplo.com</a:t>
            </a:r>
          </a:p>
          <a:p>
            <a:pPr algn="l">
              <a:lnSpc>
                <a:spcPts val="240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total_cargas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-&gt; 5</a:t>
            </a:r>
          </a:p>
          <a:p>
            <a:pPr algn="l">
              <a:lnSpc>
                <a:spcPts val="240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total_kwh -&gt; 7.35</a:t>
            </a:r>
          </a:p>
          <a:p>
            <a:pPr algn="l">
              <a:lnSpc>
                <a:spcPts val="240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total_custo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-&gt; 0.95</a:t>
            </a:r>
          </a:p>
          <a:p>
            <a:pPr algn="l">
              <a:lnSpc>
                <a:spcPts val="240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ltima_carga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-&gt; Ca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cifo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1 · 1.40 kWh ·</a:t>
            </a: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0.18          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0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40830" y="283448"/>
            <a:ext cx="15006340" cy="1493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80"/>
              </a:lnSpc>
            </a:pPr>
            <a:r>
              <a:rPr lang="en-US" sz="87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Funcionamento do Sistema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13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27709" y="2097643"/>
            <a:ext cx="8718273" cy="7891979"/>
            <a:chOff x="0" y="0"/>
            <a:chExt cx="2296171" cy="20785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96171" cy="2078546"/>
            </a:xfrm>
            <a:custGeom>
              <a:avLst/>
              <a:gdLst/>
              <a:ahLst/>
              <a:cxnLst/>
              <a:rect r="r" b="b" t="t" l="l"/>
              <a:pathLst>
                <a:path h="2078546" w="2296171">
                  <a:moveTo>
                    <a:pt x="45289" y="0"/>
                  </a:moveTo>
                  <a:lnTo>
                    <a:pt x="2250882" y="0"/>
                  </a:lnTo>
                  <a:cubicBezTo>
                    <a:pt x="2262893" y="0"/>
                    <a:pt x="2274413" y="4771"/>
                    <a:pt x="2282906" y="13265"/>
                  </a:cubicBezTo>
                  <a:cubicBezTo>
                    <a:pt x="2291399" y="21758"/>
                    <a:pt x="2296171" y="33277"/>
                    <a:pt x="2296171" y="45289"/>
                  </a:cubicBezTo>
                  <a:lnTo>
                    <a:pt x="2296171" y="2033257"/>
                  </a:lnTo>
                  <a:cubicBezTo>
                    <a:pt x="2296171" y="2045269"/>
                    <a:pt x="2291399" y="2056788"/>
                    <a:pt x="2282906" y="2065281"/>
                  </a:cubicBezTo>
                  <a:cubicBezTo>
                    <a:pt x="2274413" y="2073774"/>
                    <a:pt x="2262893" y="2078546"/>
                    <a:pt x="2250882" y="2078546"/>
                  </a:cubicBezTo>
                  <a:lnTo>
                    <a:pt x="45289" y="2078546"/>
                  </a:lnTo>
                  <a:cubicBezTo>
                    <a:pt x="33277" y="2078546"/>
                    <a:pt x="21758" y="2073774"/>
                    <a:pt x="13265" y="2065281"/>
                  </a:cubicBezTo>
                  <a:cubicBezTo>
                    <a:pt x="4771" y="2056788"/>
                    <a:pt x="0" y="2045269"/>
                    <a:pt x="0" y="2033257"/>
                  </a:cubicBezTo>
                  <a:lnTo>
                    <a:pt x="0" y="45289"/>
                  </a:lnTo>
                  <a:cubicBezTo>
                    <a:pt x="0" y="33277"/>
                    <a:pt x="4771" y="21758"/>
                    <a:pt x="13265" y="13265"/>
                  </a:cubicBezTo>
                  <a:cubicBezTo>
                    <a:pt x="21758" y="4771"/>
                    <a:pt x="33277" y="0"/>
                    <a:pt x="45289" y="0"/>
                  </a:cubicBezTo>
                  <a:close/>
                </a:path>
              </a:pathLst>
            </a:custGeom>
            <a:solidFill>
              <a:srgbClr val="B8B8B8">
                <a:alpha val="29804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296171" cy="20975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342975" y="2563197"/>
            <a:ext cx="8011590" cy="6875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50"/>
              </a:lnSpc>
            </a:pPr>
            <a:r>
              <a:rPr lang="en-US" sz="29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Comportamento da Basys2 : </a:t>
            </a:r>
          </a:p>
          <a:p>
            <a:pPr algn="just">
              <a:lnSpc>
                <a:spcPts val="2400"/>
              </a:lnSpc>
            </a:pPr>
          </a:p>
          <a:p>
            <a:pPr algn="just" marL="582932" indent="-291466" lvl="1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Simulação dos cacifos através de switches;</a:t>
            </a:r>
          </a:p>
          <a:p>
            <a:pPr algn="just" marL="582932" indent="-291466" lvl="1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LEDs indicam estado (livre/ocupado);</a:t>
            </a:r>
          </a:p>
          <a:p>
            <a:pPr algn="just" marL="582932" indent="-291466" lvl="1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Displays mostram contadores;</a:t>
            </a:r>
          </a:p>
          <a:p>
            <a:pPr algn="just" marL="582932" indent="-291466" lvl="1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Reset limpa o sistema.</a:t>
            </a:r>
          </a:p>
          <a:p>
            <a:pPr algn="just">
              <a:lnSpc>
                <a:spcPts val="4350"/>
              </a:lnSpc>
            </a:pPr>
          </a:p>
          <a:p>
            <a:pPr algn="just">
              <a:lnSpc>
                <a:spcPts val="4350"/>
              </a:lnSpc>
            </a:pPr>
            <a:r>
              <a:rPr lang="en-US" sz="29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Função de cada componente :</a:t>
            </a:r>
          </a:p>
          <a:p>
            <a:pPr algn="just">
              <a:lnSpc>
                <a:spcPts val="2400"/>
              </a:lnSpc>
            </a:pPr>
          </a:p>
          <a:p>
            <a:pPr algn="just" marL="582932" indent="-291466" lvl="1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Switches → simular ocupação;</a:t>
            </a:r>
          </a:p>
          <a:p>
            <a:pPr algn="just" marL="582932" indent="-291466" lvl="1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LEDs → estado dos cacifos;</a:t>
            </a:r>
          </a:p>
          <a:p>
            <a:pPr algn="just" marL="582932" indent="-291466" lvl="1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isplays → contadores;</a:t>
            </a:r>
          </a:p>
          <a:p>
            <a:pPr algn="just" marL="582932" indent="-291466" lvl="1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otão reset → limpar sistema;</a:t>
            </a:r>
          </a:p>
          <a:p>
            <a:pPr algn="just" marL="582932" indent="-291466" lvl="1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Pmod → comunicação com ESP32.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759285" y="4394648"/>
            <a:ext cx="8338657" cy="3297969"/>
            <a:chOff x="0" y="0"/>
            <a:chExt cx="2196190" cy="86860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6190" cy="868601"/>
            </a:xfrm>
            <a:custGeom>
              <a:avLst/>
              <a:gdLst/>
              <a:ahLst/>
              <a:cxnLst/>
              <a:rect r="r" b="b" t="t" l="l"/>
              <a:pathLst>
                <a:path h="868601" w="2196190">
                  <a:moveTo>
                    <a:pt x="47350" y="0"/>
                  </a:moveTo>
                  <a:lnTo>
                    <a:pt x="2148839" y="0"/>
                  </a:lnTo>
                  <a:cubicBezTo>
                    <a:pt x="2174990" y="0"/>
                    <a:pt x="2196190" y="21199"/>
                    <a:pt x="2196190" y="47350"/>
                  </a:cubicBezTo>
                  <a:lnTo>
                    <a:pt x="2196190" y="821251"/>
                  </a:lnTo>
                  <a:cubicBezTo>
                    <a:pt x="2196190" y="847401"/>
                    <a:pt x="2174990" y="868601"/>
                    <a:pt x="2148839" y="868601"/>
                  </a:cubicBezTo>
                  <a:lnTo>
                    <a:pt x="47350" y="868601"/>
                  </a:lnTo>
                  <a:cubicBezTo>
                    <a:pt x="21199" y="868601"/>
                    <a:pt x="0" y="847401"/>
                    <a:pt x="0" y="821251"/>
                  </a:cubicBezTo>
                  <a:lnTo>
                    <a:pt x="0" y="47350"/>
                  </a:lnTo>
                  <a:cubicBezTo>
                    <a:pt x="0" y="21199"/>
                    <a:pt x="21199" y="0"/>
                    <a:pt x="47350" y="0"/>
                  </a:cubicBezTo>
                  <a:close/>
                </a:path>
              </a:pathLst>
            </a:custGeom>
            <a:solidFill>
              <a:srgbClr val="B8B8B8">
                <a:alpha val="29804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196190" cy="8876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094139" y="4706322"/>
            <a:ext cx="8003803" cy="237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sz="29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</a:t>
            </a:r>
            <a:r>
              <a:rPr lang="en-US" b="true" sz="29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omunicação :</a:t>
            </a:r>
          </a:p>
          <a:p>
            <a:pPr algn="l">
              <a:lnSpc>
                <a:spcPts val="2400"/>
              </a:lnSpc>
            </a:pPr>
          </a:p>
          <a:p>
            <a:pPr algn="l" marL="582932" indent="-291466" lvl="1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Basys2 envia estados → ESP32 (GPIO);</a:t>
            </a:r>
          </a:p>
          <a:p>
            <a:pPr algn="l" marL="582932" indent="-291466" lvl="1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ESP32 processa e envia → App (Bluetooth);</a:t>
            </a:r>
          </a:p>
          <a:p>
            <a:pPr algn="l" marL="582932" indent="-291466" lvl="1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App envia comandos → ESP32 → Basys2;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01277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17126" y="2244290"/>
            <a:ext cx="12361181" cy="6105590"/>
            <a:chOff x="0" y="0"/>
            <a:chExt cx="3255620" cy="16080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255620" cy="1608057"/>
            </a:xfrm>
            <a:custGeom>
              <a:avLst/>
              <a:gdLst/>
              <a:ahLst/>
              <a:cxnLst/>
              <a:rect r="r" b="b" t="t" l="l"/>
              <a:pathLst>
                <a:path h="1608057" w="3255620">
                  <a:moveTo>
                    <a:pt x="0" y="0"/>
                  </a:moveTo>
                  <a:lnTo>
                    <a:pt x="3255620" y="0"/>
                  </a:lnTo>
                  <a:lnTo>
                    <a:pt x="3255620" y="1608057"/>
                  </a:lnTo>
                  <a:lnTo>
                    <a:pt x="0" y="1608057"/>
                  </a:lnTo>
                  <a:close/>
                </a:path>
              </a:pathLst>
            </a:custGeom>
            <a:solidFill>
              <a:srgbClr val="F3F0E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255620" cy="16461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18453" y="457362"/>
            <a:ext cx="10005101" cy="1142676"/>
            <a:chOff x="0" y="0"/>
            <a:chExt cx="2635088" cy="3009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35088" cy="300952"/>
            </a:xfrm>
            <a:custGeom>
              <a:avLst/>
              <a:gdLst/>
              <a:ahLst/>
              <a:cxnLst/>
              <a:rect r="r" b="b" t="t" l="l"/>
              <a:pathLst>
                <a:path h="300952" w="2635088">
                  <a:moveTo>
                    <a:pt x="0" y="0"/>
                  </a:moveTo>
                  <a:lnTo>
                    <a:pt x="2635088" y="0"/>
                  </a:lnTo>
                  <a:lnTo>
                    <a:pt x="2635088" y="300952"/>
                  </a:lnTo>
                  <a:lnTo>
                    <a:pt x="0" y="300952"/>
                  </a:lnTo>
                  <a:close/>
                </a:path>
              </a:pathLst>
            </a:custGeom>
            <a:solidFill>
              <a:srgbClr val="F2F1E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635088" cy="3390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528290" y="1703161"/>
            <a:ext cx="2549871" cy="429469"/>
            <a:chOff x="0" y="0"/>
            <a:chExt cx="671571" cy="1131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71571" cy="113111"/>
            </a:xfrm>
            <a:custGeom>
              <a:avLst/>
              <a:gdLst/>
              <a:ahLst/>
              <a:cxnLst/>
              <a:rect r="r" b="b" t="t" l="l"/>
              <a:pathLst>
                <a:path h="113111" w="671571">
                  <a:moveTo>
                    <a:pt x="0" y="0"/>
                  </a:moveTo>
                  <a:lnTo>
                    <a:pt x="671571" y="0"/>
                  </a:lnTo>
                  <a:lnTo>
                    <a:pt x="671571" y="113111"/>
                  </a:lnTo>
                  <a:lnTo>
                    <a:pt x="0" y="113111"/>
                  </a:lnTo>
                  <a:close/>
                </a:path>
              </a:pathLst>
            </a:custGeom>
            <a:solidFill>
              <a:srgbClr val="F3F1E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71571" cy="151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923956" y="1767196"/>
            <a:ext cx="2549871" cy="429469"/>
            <a:chOff x="0" y="0"/>
            <a:chExt cx="671571" cy="11311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71571" cy="113111"/>
            </a:xfrm>
            <a:custGeom>
              <a:avLst/>
              <a:gdLst/>
              <a:ahLst/>
              <a:cxnLst/>
              <a:rect r="r" b="b" t="t" l="l"/>
              <a:pathLst>
                <a:path h="113111" w="671571">
                  <a:moveTo>
                    <a:pt x="0" y="0"/>
                  </a:moveTo>
                  <a:lnTo>
                    <a:pt x="671571" y="0"/>
                  </a:lnTo>
                  <a:lnTo>
                    <a:pt x="671571" y="113111"/>
                  </a:lnTo>
                  <a:lnTo>
                    <a:pt x="0" y="113111"/>
                  </a:lnTo>
                  <a:close/>
                </a:path>
              </a:pathLst>
            </a:custGeom>
            <a:solidFill>
              <a:srgbClr val="F3F1E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671571" cy="151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-170944" y="7970652"/>
            <a:ext cx="18591786" cy="2445460"/>
            <a:chOff x="0" y="0"/>
            <a:chExt cx="4896602" cy="6440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896602" cy="644072"/>
            </a:xfrm>
            <a:custGeom>
              <a:avLst/>
              <a:gdLst/>
              <a:ahLst/>
              <a:cxnLst/>
              <a:rect r="r" b="b" t="t" l="l"/>
              <a:pathLst>
                <a:path h="644072" w="4896602">
                  <a:moveTo>
                    <a:pt x="21237" y="0"/>
                  </a:moveTo>
                  <a:lnTo>
                    <a:pt x="4875365" y="0"/>
                  </a:lnTo>
                  <a:cubicBezTo>
                    <a:pt x="4887094" y="0"/>
                    <a:pt x="4896602" y="9508"/>
                    <a:pt x="4896602" y="21237"/>
                  </a:cubicBezTo>
                  <a:lnTo>
                    <a:pt x="4896602" y="622834"/>
                  </a:lnTo>
                  <a:cubicBezTo>
                    <a:pt x="4896602" y="634563"/>
                    <a:pt x="4887094" y="644072"/>
                    <a:pt x="4875365" y="644072"/>
                  </a:cubicBezTo>
                  <a:lnTo>
                    <a:pt x="21237" y="644072"/>
                  </a:lnTo>
                  <a:cubicBezTo>
                    <a:pt x="9508" y="644072"/>
                    <a:pt x="0" y="634563"/>
                    <a:pt x="0" y="622834"/>
                  </a:cubicBezTo>
                  <a:lnTo>
                    <a:pt x="0" y="21237"/>
                  </a:lnTo>
                  <a:cubicBezTo>
                    <a:pt x="0" y="9508"/>
                    <a:pt x="9508" y="0"/>
                    <a:pt x="21237" y="0"/>
                  </a:cubicBezTo>
                  <a:close/>
                </a:path>
              </a:pathLst>
            </a:custGeom>
            <a:solidFill>
              <a:srgbClr val="F4F1E8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4896602" cy="691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4032686" y="2244290"/>
            <a:ext cx="3801348" cy="7521620"/>
            <a:chOff x="0" y="0"/>
            <a:chExt cx="2620010" cy="51841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3041" r="0" b="-3041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29" id="29"/>
          <p:cNvGrpSpPr>
            <a:grpSpLocks noChangeAspect="true"/>
          </p:cNvGrpSpPr>
          <p:nvPr/>
        </p:nvGrpSpPr>
        <p:grpSpPr>
          <a:xfrm rot="0">
            <a:off x="10509945" y="2244290"/>
            <a:ext cx="3801348" cy="7521620"/>
            <a:chOff x="0" y="0"/>
            <a:chExt cx="2620010" cy="51841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2783" r="0" b="-12783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318453" y="460702"/>
            <a:ext cx="11229814" cy="827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60"/>
              </a:lnSpc>
            </a:pPr>
            <a:r>
              <a:rPr lang="en-US" b="true" sz="49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Interface Monitorização e Controlo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380454" y="1641154"/>
            <a:ext cx="4060329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Página de Carregamento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7387052" y="940833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14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607910" y="1646011"/>
            <a:ext cx="2650900" cy="448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Página Principal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01277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17126" y="2244290"/>
            <a:ext cx="12361181" cy="6105590"/>
            <a:chOff x="0" y="0"/>
            <a:chExt cx="3255620" cy="16080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255620" cy="1608057"/>
            </a:xfrm>
            <a:custGeom>
              <a:avLst/>
              <a:gdLst/>
              <a:ahLst/>
              <a:cxnLst/>
              <a:rect r="r" b="b" t="t" l="l"/>
              <a:pathLst>
                <a:path h="1608057" w="3255620">
                  <a:moveTo>
                    <a:pt x="0" y="0"/>
                  </a:moveTo>
                  <a:lnTo>
                    <a:pt x="3255620" y="0"/>
                  </a:lnTo>
                  <a:lnTo>
                    <a:pt x="3255620" y="1608057"/>
                  </a:lnTo>
                  <a:lnTo>
                    <a:pt x="0" y="1608057"/>
                  </a:lnTo>
                  <a:close/>
                </a:path>
              </a:pathLst>
            </a:custGeom>
            <a:solidFill>
              <a:srgbClr val="F3F0E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255620" cy="16461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18453" y="457362"/>
            <a:ext cx="10005101" cy="1142676"/>
            <a:chOff x="0" y="0"/>
            <a:chExt cx="2635088" cy="3009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35088" cy="300952"/>
            </a:xfrm>
            <a:custGeom>
              <a:avLst/>
              <a:gdLst/>
              <a:ahLst/>
              <a:cxnLst/>
              <a:rect r="r" b="b" t="t" l="l"/>
              <a:pathLst>
                <a:path h="300952" w="2635088">
                  <a:moveTo>
                    <a:pt x="0" y="0"/>
                  </a:moveTo>
                  <a:lnTo>
                    <a:pt x="2635088" y="0"/>
                  </a:lnTo>
                  <a:lnTo>
                    <a:pt x="2635088" y="300952"/>
                  </a:lnTo>
                  <a:lnTo>
                    <a:pt x="0" y="300952"/>
                  </a:lnTo>
                  <a:close/>
                </a:path>
              </a:pathLst>
            </a:custGeom>
            <a:solidFill>
              <a:srgbClr val="F2F1E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635088" cy="3390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528290" y="1703161"/>
            <a:ext cx="2549871" cy="429469"/>
            <a:chOff x="0" y="0"/>
            <a:chExt cx="671571" cy="1131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71571" cy="113111"/>
            </a:xfrm>
            <a:custGeom>
              <a:avLst/>
              <a:gdLst/>
              <a:ahLst/>
              <a:cxnLst/>
              <a:rect r="r" b="b" t="t" l="l"/>
              <a:pathLst>
                <a:path h="113111" w="671571">
                  <a:moveTo>
                    <a:pt x="0" y="0"/>
                  </a:moveTo>
                  <a:lnTo>
                    <a:pt x="671571" y="0"/>
                  </a:lnTo>
                  <a:lnTo>
                    <a:pt x="671571" y="113111"/>
                  </a:lnTo>
                  <a:lnTo>
                    <a:pt x="0" y="113111"/>
                  </a:lnTo>
                  <a:close/>
                </a:path>
              </a:pathLst>
            </a:custGeom>
            <a:solidFill>
              <a:srgbClr val="F3F1E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71571" cy="151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135683" y="1679149"/>
            <a:ext cx="2549871" cy="429469"/>
            <a:chOff x="0" y="0"/>
            <a:chExt cx="671571" cy="11311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71571" cy="113111"/>
            </a:xfrm>
            <a:custGeom>
              <a:avLst/>
              <a:gdLst/>
              <a:ahLst/>
              <a:cxnLst/>
              <a:rect r="r" b="b" t="t" l="l"/>
              <a:pathLst>
                <a:path h="113111" w="671571">
                  <a:moveTo>
                    <a:pt x="0" y="0"/>
                  </a:moveTo>
                  <a:lnTo>
                    <a:pt x="671571" y="0"/>
                  </a:lnTo>
                  <a:lnTo>
                    <a:pt x="671571" y="113111"/>
                  </a:lnTo>
                  <a:lnTo>
                    <a:pt x="0" y="113111"/>
                  </a:lnTo>
                  <a:close/>
                </a:path>
              </a:pathLst>
            </a:custGeom>
            <a:solidFill>
              <a:srgbClr val="F3F1E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671571" cy="151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7479957" y="940833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15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-170944" y="7970652"/>
            <a:ext cx="18591786" cy="2445460"/>
            <a:chOff x="0" y="0"/>
            <a:chExt cx="4896602" cy="6440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96602" cy="644072"/>
            </a:xfrm>
            <a:custGeom>
              <a:avLst/>
              <a:gdLst/>
              <a:ahLst/>
              <a:cxnLst/>
              <a:rect r="r" b="b" t="t" l="l"/>
              <a:pathLst>
                <a:path h="644072" w="4896602">
                  <a:moveTo>
                    <a:pt x="21237" y="0"/>
                  </a:moveTo>
                  <a:lnTo>
                    <a:pt x="4875365" y="0"/>
                  </a:lnTo>
                  <a:cubicBezTo>
                    <a:pt x="4887094" y="0"/>
                    <a:pt x="4896602" y="9508"/>
                    <a:pt x="4896602" y="21237"/>
                  </a:cubicBezTo>
                  <a:lnTo>
                    <a:pt x="4896602" y="622834"/>
                  </a:lnTo>
                  <a:cubicBezTo>
                    <a:pt x="4896602" y="634563"/>
                    <a:pt x="4887094" y="644072"/>
                    <a:pt x="4875365" y="644072"/>
                  </a:cubicBezTo>
                  <a:lnTo>
                    <a:pt x="21237" y="644072"/>
                  </a:lnTo>
                  <a:cubicBezTo>
                    <a:pt x="9508" y="644072"/>
                    <a:pt x="0" y="634563"/>
                    <a:pt x="0" y="622834"/>
                  </a:cubicBezTo>
                  <a:lnTo>
                    <a:pt x="0" y="21237"/>
                  </a:lnTo>
                  <a:cubicBezTo>
                    <a:pt x="0" y="9508"/>
                    <a:pt x="9508" y="0"/>
                    <a:pt x="21237" y="0"/>
                  </a:cubicBezTo>
                  <a:close/>
                </a:path>
              </a:pathLst>
            </a:custGeom>
            <a:solidFill>
              <a:srgbClr val="F4F1E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4896602" cy="691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0" id="20"/>
          <p:cNvGrpSpPr>
            <a:grpSpLocks noChangeAspect="true"/>
          </p:cNvGrpSpPr>
          <p:nvPr/>
        </p:nvGrpSpPr>
        <p:grpSpPr>
          <a:xfrm rot="0">
            <a:off x="7178533" y="2113476"/>
            <a:ext cx="3801348" cy="7521620"/>
            <a:chOff x="0" y="0"/>
            <a:chExt cx="2620010" cy="51841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255" r="0" b="-1255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30" id="30"/>
          <p:cNvGrpSpPr>
            <a:grpSpLocks noChangeAspect="true"/>
          </p:cNvGrpSpPr>
          <p:nvPr/>
        </p:nvGrpSpPr>
        <p:grpSpPr>
          <a:xfrm rot="0">
            <a:off x="1331854" y="2245735"/>
            <a:ext cx="3744186" cy="7408515"/>
            <a:chOff x="0" y="0"/>
            <a:chExt cx="2620010" cy="51841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273" r="0" b="-1273"/>
              </a:stretch>
            </a:blip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40" id="40"/>
          <p:cNvGrpSpPr>
            <a:grpSpLocks noChangeAspect="true"/>
          </p:cNvGrpSpPr>
          <p:nvPr/>
        </p:nvGrpSpPr>
        <p:grpSpPr>
          <a:xfrm rot="0">
            <a:off x="13084906" y="2226580"/>
            <a:ext cx="3744186" cy="7408515"/>
            <a:chOff x="0" y="0"/>
            <a:chExt cx="2620010" cy="51841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273" r="0" b="-1273"/>
              </a:stretch>
            </a:blip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318453" y="460702"/>
            <a:ext cx="11229814" cy="828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60"/>
              </a:lnSpc>
            </a:pPr>
            <a:r>
              <a:rPr lang="en-US" b="true" sz="49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Interface Monitorização e Controlo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7771955" y="1604041"/>
            <a:ext cx="2614504" cy="448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Página do Mapa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615839" y="1684321"/>
            <a:ext cx="3176215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Página de Histórico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7312913" y="9384835"/>
            <a:ext cx="305038" cy="356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15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3673085" y="1684321"/>
            <a:ext cx="2567826" cy="448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Página de Perfil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6699" y="2900279"/>
            <a:ext cx="484003" cy="196021"/>
          </a:xfrm>
          <a:custGeom>
            <a:avLst/>
            <a:gdLst/>
            <a:ahLst/>
            <a:cxnLst/>
            <a:rect r="r" b="b" t="t" l="l"/>
            <a:pathLst>
              <a:path h="196021" w="484003">
                <a:moveTo>
                  <a:pt x="0" y="0"/>
                </a:moveTo>
                <a:lnTo>
                  <a:pt x="484002" y="0"/>
                </a:lnTo>
                <a:lnTo>
                  <a:pt x="484002" y="196021"/>
                </a:lnTo>
                <a:lnTo>
                  <a:pt x="0" y="1960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786699" y="4669875"/>
            <a:ext cx="484003" cy="196021"/>
          </a:xfrm>
          <a:custGeom>
            <a:avLst/>
            <a:gdLst/>
            <a:ahLst/>
            <a:cxnLst/>
            <a:rect r="r" b="b" t="t" l="l"/>
            <a:pathLst>
              <a:path h="196021" w="484003">
                <a:moveTo>
                  <a:pt x="0" y="0"/>
                </a:moveTo>
                <a:lnTo>
                  <a:pt x="484002" y="0"/>
                </a:lnTo>
                <a:lnTo>
                  <a:pt x="484002" y="196021"/>
                </a:lnTo>
                <a:lnTo>
                  <a:pt x="0" y="1960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786699" y="6388186"/>
            <a:ext cx="484003" cy="196021"/>
          </a:xfrm>
          <a:custGeom>
            <a:avLst/>
            <a:gdLst/>
            <a:ahLst/>
            <a:cxnLst/>
            <a:rect r="r" b="b" t="t" l="l"/>
            <a:pathLst>
              <a:path h="196021" w="484003">
                <a:moveTo>
                  <a:pt x="0" y="0"/>
                </a:moveTo>
                <a:lnTo>
                  <a:pt x="484002" y="0"/>
                </a:lnTo>
                <a:lnTo>
                  <a:pt x="484002" y="196021"/>
                </a:lnTo>
                <a:lnTo>
                  <a:pt x="0" y="1960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786699" y="8556394"/>
            <a:ext cx="484003" cy="196021"/>
          </a:xfrm>
          <a:custGeom>
            <a:avLst/>
            <a:gdLst/>
            <a:ahLst/>
            <a:cxnLst/>
            <a:rect r="r" b="b" t="t" l="l"/>
            <a:pathLst>
              <a:path h="196021" w="484003">
                <a:moveTo>
                  <a:pt x="0" y="0"/>
                </a:moveTo>
                <a:lnTo>
                  <a:pt x="484002" y="0"/>
                </a:lnTo>
                <a:lnTo>
                  <a:pt x="484002" y="196021"/>
                </a:lnTo>
                <a:lnTo>
                  <a:pt x="0" y="1960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1143714">
            <a:off x="13596120" y="2275934"/>
            <a:ext cx="2723072" cy="2948207"/>
          </a:xfrm>
          <a:custGeom>
            <a:avLst/>
            <a:gdLst/>
            <a:ahLst/>
            <a:cxnLst/>
            <a:rect r="r" b="b" t="t" l="l"/>
            <a:pathLst>
              <a:path h="2948207" w="2723072">
                <a:moveTo>
                  <a:pt x="0" y="0"/>
                </a:moveTo>
                <a:lnTo>
                  <a:pt x="2723072" y="0"/>
                </a:lnTo>
                <a:lnTo>
                  <a:pt x="2723072" y="2948207"/>
                </a:lnTo>
                <a:lnTo>
                  <a:pt x="0" y="29482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979735" y="857250"/>
            <a:ext cx="6328529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Limitações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46742" y="2708730"/>
            <a:ext cx="2301597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Comunicação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84306" y="3323317"/>
            <a:ext cx="9608344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ependência de ligação física entre Basys2 e ESP32;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Uso de Bluetooth com alcance reduzido e possível interferência.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84306" y="4506901"/>
            <a:ext cx="2689979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</a:t>
            </a:r>
            <a:r>
              <a:rPr lang="en-US" b="true" sz="26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uncionamento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84306" y="5124121"/>
            <a:ext cx="10285334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ontrolo de carregamento ainda básico;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Ausência de sensores físicos reais, com recurso a estados simulados.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84306" y="6225211"/>
            <a:ext cx="4604742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Seg</a:t>
            </a:r>
            <a:r>
              <a:rPr lang="en-US" b="true" sz="26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urança e escalabilidade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06643" y="6842432"/>
            <a:ext cx="8905830" cy="1234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ecanismos de autenticação simples;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Sistema pensado para poucos cacifos;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Expansão exige alterações na arquitetura.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84306" y="8393419"/>
            <a:ext cx="5491043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Dependê</a:t>
            </a:r>
            <a:r>
              <a:rPr lang="en-US" b="true" sz="26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ncia do sistema central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06643" y="9012872"/>
            <a:ext cx="12804338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alhas de comunicação com o computador ou servidor podem limitar funcionalidades.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2876" y="404051"/>
            <a:ext cx="1019202" cy="1919730"/>
          </a:xfrm>
          <a:custGeom>
            <a:avLst/>
            <a:gdLst/>
            <a:ahLst/>
            <a:cxnLst/>
            <a:rect r="r" b="b" t="t" l="l"/>
            <a:pathLst>
              <a:path h="1919730" w="1019202">
                <a:moveTo>
                  <a:pt x="0" y="0"/>
                </a:moveTo>
                <a:lnTo>
                  <a:pt x="1019202" y="0"/>
                </a:lnTo>
                <a:lnTo>
                  <a:pt x="1019202" y="1919730"/>
                </a:lnTo>
                <a:lnTo>
                  <a:pt x="0" y="19197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87999" y="3310899"/>
            <a:ext cx="555209" cy="434072"/>
          </a:xfrm>
          <a:custGeom>
            <a:avLst/>
            <a:gdLst/>
            <a:ahLst/>
            <a:cxnLst/>
            <a:rect r="r" b="b" t="t" l="l"/>
            <a:pathLst>
              <a:path h="434072" w="555209">
                <a:moveTo>
                  <a:pt x="0" y="0"/>
                </a:moveTo>
                <a:lnTo>
                  <a:pt x="555209" y="0"/>
                </a:lnTo>
                <a:lnTo>
                  <a:pt x="555209" y="434072"/>
                </a:lnTo>
                <a:lnTo>
                  <a:pt x="0" y="4340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835078" y="857250"/>
            <a:ext cx="1061784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Melhorias Futuras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2420" y="3743815"/>
            <a:ext cx="15054024" cy="88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Perm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itindo gerir melhor a energia, evitar sobrecargas e dar prioridade a determinados utilizadores ou níveis de bateria.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3422" y="3234699"/>
            <a:ext cx="6118665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</a:t>
            </a:r>
            <a:r>
              <a:rPr lang="en-US" b="true" sz="24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trolo inteligente do carregamento: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3422" y="4989398"/>
            <a:ext cx="372820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</a:t>
            </a:r>
            <a:r>
              <a:rPr lang="en-US" b="true" sz="24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elhorias na aplicação: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2472" y="5565389"/>
            <a:ext cx="14690957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Como reser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vas antecipadas de cacifos e notificações em tempo real mais detalhadas.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2947" y="6353772"/>
            <a:ext cx="325731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Segurança e Acesso: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30811" y="6982422"/>
            <a:ext cx="9319260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entrada torna-se mais segura com autenticação de dois fatores.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7854369"/>
            <a:ext cx="4231243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Otimização e Crescimento: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8368719"/>
            <a:ext cx="16084420" cy="88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uso de análise de dados permite perceber as horas de maior movimento para ajustar o serviço, estando o sistema preparado para crescer facilmente para novos locais.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378474" y="5065598"/>
            <a:ext cx="555209" cy="434072"/>
          </a:xfrm>
          <a:custGeom>
            <a:avLst/>
            <a:gdLst/>
            <a:ahLst/>
            <a:cxnLst/>
            <a:rect r="r" b="b" t="t" l="l"/>
            <a:pathLst>
              <a:path h="434072" w="555209">
                <a:moveTo>
                  <a:pt x="0" y="0"/>
                </a:moveTo>
                <a:lnTo>
                  <a:pt x="555209" y="0"/>
                </a:lnTo>
                <a:lnTo>
                  <a:pt x="555209" y="434072"/>
                </a:lnTo>
                <a:lnTo>
                  <a:pt x="0" y="4340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87999" y="6429972"/>
            <a:ext cx="555209" cy="434072"/>
          </a:xfrm>
          <a:custGeom>
            <a:avLst/>
            <a:gdLst/>
            <a:ahLst/>
            <a:cxnLst/>
            <a:rect r="r" b="b" t="t" l="l"/>
            <a:pathLst>
              <a:path h="434072" w="555209">
                <a:moveTo>
                  <a:pt x="0" y="0"/>
                </a:moveTo>
                <a:lnTo>
                  <a:pt x="555209" y="0"/>
                </a:lnTo>
                <a:lnTo>
                  <a:pt x="555209" y="434073"/>
                </a:lnTo>
                <a:lnTo>
                  <a:pt x="0" y="4340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378474" y="7899270"/>
            <a:ext cx="555209" cy="434072"/>
          </a:xfrm>
          <a:custGeom>
            <a:avLst/>
            <a:gdLst/>
            <a:ahLst/>
            <a:cxnLst/>
            <a:rect r="r" b="b" t="t" l="l"/>
            <a:pathLst>
              <a:path h="434072" w="555209">
                <a:moveTo>
                  <a:pt x="0" y="0"/>
                </a:moveTo>
                <a:lnTo>
                  <a:pt x="555209" y="0"/>
                </a:lnTo>
                <a:lnTo>
                  <a:pt x="555209" y="434073"/>
                </a:lnTo>
                <a:lnTo>
                  <a:pt x="0" y="4340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6511721" y="2537949"/>
            <a:ext cx="5118378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 futuro, o sistema poderá incluir: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F0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00885" y="3490236"/>
            <a:ext cx="12086230" cy="3930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6569" indent="-248284" lvl="1">
              <a:lnSpc>
                <a:spcPts val="390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projeto EasyCharge permitiu desenvolver uma solução para armazenamento e carregamento de trotinetes elétricas;</a:t>
            </a:r>
          </a:p>
          <a:p>
            <a:pPr algn="just" marL="496569" indent="-248284" lvl="1">
              <a:lnSpc>
                <a:spcPts val="390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Os objetivos do projeto foram cumpridos através da integração entre hardware, software e comunicação entre módulos;</a:t>
            </a:r>
          </a:p>
          <a:p>
            <a:pPr algn="just" marL="496569" indent="-248284" lvl="1">
              <a:lnSpc>
                <a:spcPts val="390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Apesar das limitações de um protótipo académico, o sistema revelou-se funcional, coerente e com potencial de evolução futura;</a:t>
            </a:r>
          </a:p>
          <a:p>
            <a:pPr algn="just" marL="496569" indent="-248284" lvl="1">
              <a:lnSpc>
                <a:spcPts val="390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projeto permitiu ainda aplicar conhecimentos técnicos e desenvolver competências de planeamento, colaboração e gestão do trabalho.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158616" y="857250"/>
            <a:ext cx="5970768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Conclusão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86176" y="2412488"/>
            <a:ext cx="4547739" cy="2450837"/>
          </a:xfrm>
          <a:custGeom>
            <a:avLst/>
            <a:gdLst/>
            <a:ahLst/>
            <a:cxnLst/>
            <a:rect r="r" b="b" t="t" l="l"/>
            <a:pathLst>
              <a:path h="2450837" w="4547739">
                <a:moveTo>
                  <a:pt x="0" y="0"/>
                </a:moveTo>
                <a:lnTo>
                  <a:pt x="4547739" y="0"/>
                </a:lnTo>
                <a:lnTo>
                  <a:pt x="4547739" y="2450838"/>
                </a:lnTo>
                <a:lnTo>
                  <a:pt x="0" y="24508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4213" y="589180"/>
            <a:ext cx="2930694" cy="1875508"/>
          </a:xfrm>
          <a:custGeom>
            <a:avLst/>
            <a:gdLst/>
            <a:ahLst/>
            <a:cxnLst/>
            <a:rect r="r" b="b" t="t" l="l"/>
            <a:pathLst>
              <a:path h="1875508" w="2930694">
                <a:moveTo>
                  <a:pt x="0" y="0"/>
                </a:moveTo>
                <a:lnTo>
                  <a:pt x="2930694" y="0"/>
                </a:lnTo>
                <a:lnTo>
                  <a:pt x="2930694" y="1875508"/>
                </a:lnTo>
                <a:lnTo>
                  <a:pt x="0" y="18755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3601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660544" y="871820"/>
            <a:ext cx="4091180" cy="8266138"/>
          </a:xfrm>
          <a:custGeom>
            <a:avLst/>
            <a:gdLst/>
            <a:ahLst/>
            <a:cxnLst/>
            <a:rect r="r" b="b" t="t" l="l"/>
            <a:pathLst>
              <a:path h="8266138" w="4091180">
                <a:moveTo>
                  <a:pt x="0" y="0"/>
                </a:moveTo>
                <a:lnTo>
                  <a:pt x="4091179" y="0"/>
                </a:lnTo>
                <a:lnTo>
                  <a:pt x="4091179" y="8266137"/>
                </a:lnTo>
                <a:lnTo>
                  <a:pt x="0" y="82661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29" t="-421" r="-1035" b="-76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92637" y="7386262"/>
            <a:ext cx="11301259" cy="1751695"/>
          </a:xfrm>
          <a:custGeom>
            <a:avLst/>
            <a:gdLst/>
            <a:ahLst/>
            <a:cxnLst/>
            <a:rect r="r" b="b" t="t" l="l"/>
            <a:pathLst>
              <a:path h="1751695" w="11301259">
                <a:moveTo>
                  <a:pt x="0" y="0"/>
                </a:moveTo>
                <a:lnTo>
                  <a:pt x="11301259" y="0"/>
                </a:lnTo>
                <a:lnTo>
                  <a:pt x="11301259" y="1751695"/>
                </a:lnTo>
                <a:lnTo>
                  <a:pt x="0" y="17516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444538" y="8521800"/>
            <a:ext cx="8448007" cy="525639"/>
            <a:chOff x="0" y="0"/>
            <a:chExt cx="2224989" cy="1384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24990" cy="138440"/>
            </a:xfrm>
            <a:custGeom>
              <a:avLst/>
              <a:gdLst/>
              <a:ahLst/>
              <a:cxnLst/>
              <a:rect r="r" b="b" t="t" l="l"/>
              <a:pathLst>
                <a:path h="138440" w="2224990">
                  <a:moveTo>
                    <a:pt x="0" y="0"/>
                  </a:moveTo>
                  <a:lnTo>
                    <a:pt x="2224990" y="0"/>
                  </a:lnTo>
                  <a:lnTo>
                    <a:pt x="2224990" y="138440"/>
                  </a:lnTo>
                  <a:lnTo>
                    <a:pt x="0" y="138440"/>
                  </a:lnTo>
                  <a:close/>
                </a:path>
              </a:pathLst>
            </a:custGeom>
            <a:solidFill>
              <a:srgbClr val="F5F6F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224989" cy="1860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827358" y="3314057"/>
            <a:ext cx="9058100" cy="21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00"/>
              </a:lnSpc>
            </a:pPr>
            <a:r>
              <a:rPr lang="en-US" sz="1242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Easy</a:t>
            </a:r>
            <a:r>
              <a:rPr lang="en-US" sz="12429" b="true">
                <a:solidFill>
                  <a:srgbClr val="366BA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Charge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534907" y="8584594"/>
            <a:ext cx="2551956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3"/>
              </a:lnSpc>
              <a:spcBef>
                <a:spcPct val="0"/>
              </a:spcBef>
            </a:pPr>
            <a:r>
              <a:rPr lang="en-US" sz="266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Bernardo Milheiro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444538" y="7518844"/>
            <a:ext cx="8448007" cy="912856"/>
            <a:chOff x="0" y="0"/>
            <a:chExt cx="2224989" cy="24042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24990" cy="240423"/>
            </a:xfrm>
            <a:custGeom>
              <a:avLst/>
              <a:gdLst/>
              <a:ahLst/>
              <a:cxnLst/>
              <a:rect r="r" b="b" t="t" l="l"/>
              <a:pathLst>
                <a:path h="240423" w="2224990">
                  <a:moveTo>
                    <a:pt x="0" y="0"/>
                  </a:moveTo>
                  <a:lnTo>
                    <a:pt x="2224990" y="0"/>
                  </a:lnTo>
                  <a:lnTo>
                    <a:pt x="2224990" y="240423"/>
                  </a:lnTo>
                  <a:lnTo>
                    <a:pt x="0" y="240423"/>
                  </a:lnTo>
                  <a:close/>
                </a:path>
              </a:pathLst>
            </a:custGeom>
            <a:solidFill>
              <a:srgbClr val="F6F7F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224989" cy="2880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534907" y="7544584"/>
            <a:ext cx="7971234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3"/>
              </a:lnSpc>
            </a:pPr>
            <a:r>
              <a:rPr lang="en-US" sz="266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Matheus Santana, Rodrigo Belchior, Rodrigo Fonseca e</a:t>
            </a:r>
          </a:p>
          <a:p>
            <a:pPr algn="l">
              <a:lnSpc>
                <a:spcPts val="3193"/>
              </a:lnSpc>
              <a:spcBef>
                <a:spcPct val="0"/>
              </a:spcBef>
            </a:pPr>
            <a:r>
              <a:rPr lang="en-US" sz="266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Rogério Pereira 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21212" y="7490269"/>
            <a:ext cx="1866985" cy="941431"/>
            <a:chOff x="0" y="0"/>
            <a:chExt cx="491716" cy="24794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91716" cy="247949"/>
            </a:xfrm>
            <a:custGeom>
              <a:avLst/>
              <a:gdLst/>
              <a:ahLst/>
              <a:cxnLst/>
              <a:rect r="r" b="b" t="t" l="l"/>
              <a:pathLst>
                <a:path h="247949" w="491716">
                  <a:moveTo>
                    <a:pt x="0" y="0"/>
                  </a:moveTo>
                  <a:lnTo>
                    <a:pt x="491716" y="0"/>
                  </a:lnTo>
                  <a:lnTo>
                    <a:pt x="491716" y="247949"/>
                  </a:lnTo>
                  <a:lnTo>
                    <a:pt x="0" y="247949"/>
                  </a:lnTo>
                  <a:close/>
                </a:path>
              </a:pathLst>
            </a:custGeom>
            <a:solidFill>
              <a:srgbClr val="F6F6E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491716" cy="295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730884" y="7775247"/>
            <a:ext cx="1102816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3"/>
              </a:lnSpc>
              <a:spcBef>
                <a:spcPct val="0"/>
              </a:spcBef>
            </a:pPr>
            <a:r>
              <a:rPr lang="en-US" sz="266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Autores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40262" y="8513929"/>
            <a:ext cx="1952496" cy="533510"/>
            <a:chOff x="0" y="0"/>
            <a:chExt cx="514238" cy="14051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14238" cy="140513"/>
            </a:xfrm>
            <a:custGeom>
              <a:avLst/>
              <a:gdLst/>
              <a:ahLst/>
              <a:cxnLst/>
              <a:rect r="r" b="b" t="t" l="l"/>
              <a:pathLst>
                <a:path h="140513" w="514238">
                  <a:moveTo>
                    <a:pt x="0" y="0"/>
                  </a:moveTo>
                  <a:lnTo>
                    <a:pt x="514238" y="0"/>
                  </a:lnTo>
                  <a:lnTo>
                    <a:pt x="514238" y="140513"/>
                  </a:lnTo>
                  <a:lnTo>
                    <a:pt x="0" y="140513"/>
                  </a:lnTo>
                  <a:close/>
                </a:path>
              </a:pathLst>
            </a:custGeom>
            <a:solidFill>
              <a:srgbClr val="F5F6F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514238" cy="1881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495438" y="8580659"/>
            <a:ext cx="1592759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3"/>
              </a:lnSpc>
              <a:spcBef>
                <a:spcPct val="0"/>
              </a:spcBef>
            </a:pPr>
            <a:r>
              <a:rPr lang="en-US" sz="266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Orientador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DAHE2jRCq4c</dc:identifier>
  <dcterms:modified xsi:type="dcterms:W3CDTF">2011-08-01T06:04:30Z</dcterms:modified>
  <cp:revision>1</cp:revision>
  <dc:title>Apresentação_PCE</dc:title>
</cp:coreProperties>
</file>